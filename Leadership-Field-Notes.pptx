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Oval 1"/>
          <p:cNvSpPr/>
          <p:nvPr/>
        </p:nvSpPr>
        <p:spPr>
          <a:xfrm>
            <a:off x="10314432" y="347472"/>
            <a:ext cx="1133856" cy="1133856"/>
          </a:xfrm>
          <a:prstGeom prst="ellipse">
            <a:avLst/>
          </a:prstGeom>
          <a:noFill/>
          <a:ln w="95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39157" y="472197"/>
            <a:ext cx="884406" cy="884406"/>
          </a:xfrm>
          <a:prstGeom prst="ellipse">
            <a:avLst/>
          </a:prstGeom>
          <a:noFill/>
          <a:ln w="635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10739628" y="489204"/>
            <a:ext cx="283464" cy="850392"/>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9601200" cy="457200"/>
          </a:xfrm>
          <a:prstGeom prst="rect">
            <a:avLst/>
          </a:prstGeom>
          <a:noFill/>
        </p:spPr>
        <p:txBody>
          <a:bodyPr wrap="square" anchor="t" lIns="0" rIns="0" tIns="0" bIns="0">
            <a:spAutoFit/>
          </a:bodyPr>
          <a:lstStyle/>
          <a:p>
            <a:r>
              <a:rPr sz="1300" b="0" i="0" spc="140">
                <a:solidFill>
                  <a:srgbClr val="A79F8B"/>
                </a:solidFill>
                <a:latin typeface="Segoe UI"/>
              </a:rPr>
              <a:t>A DIGEST, FOR THOSE WHO LEAD</a:t>
            </a:r>
          </a:p>
        </p:txBody>
      </p:sp>
      <p:sp>
        <p:nvSpPr>
          <p:cNvPr id="6" name="TextBox 5"/>
          <p:cNvSpPr txBox="1"/>
          <p:nvPr/>
        </p:nvSpPr>
        <p:spPr>
          <a:xfrm>
            <a:off x="822960" y="1874519"/>
            <a:ext cx="10515600" cy="1188720"/>
          </a:xfrm>
          <a:prstGeom prst="rect">
            <a:avLst/>
          </a:prstGeom>
          <a:noFill/>
        </p:spPr>
        <p:txBody>
          <a:bodyPr wrap="square" anchor="t" lIns="0" rIns="0" tIns="0" bIns="0">
            <a:spAutoFit/>
          </a:bodyPr>
          <a:lstStyle/>
          <a:p>
            <a:pPr>
              <a:lnSpc>
                <a:spcPct val="102000"/>
              </a:lnSpc>
            </a:pPr>
            <a:r>
              <a:rPr sz="5400" b="0" i="0">
                <a:solidFill>
                  <a:srgbClr val="EDE6D6"/>
                </a:solidFill>
                <a:latin typeface="Georgia"/>
              </a:rPr>
              <a:t>Leadership Field Notes</a:t>
            </a:r>
          </a:p>
        </p:txBody>
      </p:sp>
      <p:sp>
        <p:nvSpPr>
          <p:cNvPr id="7" name="Rectangle 6"/>
          <p:cNvSpPr/>
          <p:nvPr/>
        </p:nvSpPr>
        <p:spPr>
          <a:xfrm>
            <a:off x="822960" y="3063240"/>
            <a:ext cx="502920" cy="279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337560"/>
            <a:ext cx="8686800" cy="1463040"/>
          </a:xfrm>
          <a:prstGeom prst="rect">
            <a:avLst/>
          </a:prstGeom>
          <a:noFill/>
        </p:spPr>
        <p:txBody>
          <a:bodyPr wrap="square" anchor="t" lIns="0" rIns="0" tIns="0" bIns="0">
            <a:spAutoFit/>
          </a:bodyPr>
          <a:lstStyle/>
          <a:p>
            <a:pPr>
              <a:lnSpc>
                <a:spcPct val="130000"/>
              </a:lnSpc>
            </a:pPr>
            <a:r>
              <a:rPr sz="1600" b="0" i="0">
                <a:solidFill>
                  <a:srgbClr val="A79F8B"/>
                </a:solidFill>
                <a:latin typeface="Segoe UI"/>
              </a:rPr>
              <a:t>Nine chapters on building a high-performing team — composure under pressure, trust, communication that carries a room, the infinite game, and what eight world-class CEOs actually say to their people.</a:t>
            </a:r>
          </a:p>
        </p:txBody>
      </p:sp>
      <p:sp>
        <p:nvSpPr>
          <p:cNvPr id="9" name="TextBox 8"/>
          <p:cNvSpPr txBox="1"/>
          <p:nvPr/>
        </p:nvSpPr>
        <p:spPr>
          <a:xfrm>
            <a:off x="822960" y="4937760"/>
            <a:ext cx="9875520" cy="914400"/>
          </a:xfrm>
          <a:prstGeom prst="rect">
            <a:avLst/>
          </a:prstGeom>
          <a:noFill/>
        </p:spPr>
        <p:txBody>
          <a:bodyPr wrap="square" anchor="t" lIns="0" rIns="0" tIns="0" bIns="0">
            <a:spAutoFit/>
          </a:bodyPr>
          <a:lstStyle/>
          <a:p>
            <a:pPr>
              <a:lnSpc>
                <a:spcPct val="130000"/>
              </a:lnSpc>
            </a:pPr>
            <a:r>
              <a:rPr sz="1300" b="0" i="0">
                <a:solidFill>
                  <a:srgbClr val="A79F8B"/>
                </a:solidFill>
                <a:latin typeface="Segoe UI"/>
              </a:rPr>
              <a:t>Featuring </a:t>
            </a:r>
            <a:r>
              <a:rPr sz="1300" b="1" i="0">
                <a:solidFill>
                  <a:srgbClr val="EDE6D6"/>
                </a:solidFill>
                <a:latin typeface="Segoe UI"/>
              </a:rPr>
              <a:t>Jessica Chen</a:t>
            </a:r>
            <a:r>
              <a:rPr sz="1300" b="0" i="0">
                <a:solidFill>
                  <a:srgbClr val="A79F8B"/>
                </a:solidFill>
                <a:latin typeface="Segoe UI"/>
              </a:rPr>
              <a:t>  ·  </a:t>
            </a:r>
            <a:r>
              <a:rPr sz="1300" b="1" i="0">
                <a:solidFill>
                  <a:srgbClr val="EDE6D6"/>
                </a:solidFill>
                <a:latin typeface="Segoe UI"/>
              </a:rPr>
              <a:t>Simon Sinek</a:t>
            </a:r>
            <a:r>
              <a:rPr sz="1300" b="0" i="0">
                <a:solidFill>
                  <a:srgbClr val="A79F8B"/>
                </a:solidFill>
                <a:latin typeface="Segoe UI"/>
              </a:rPr>
              <a:t>  ·  </a:t>
            </a:r>
            <a:r>
              <a:rPr sz="1300" b="1" i="0">
                <a:solidFill>
                  <a:srgbClr val="EDE6D6"/>
                </a:solidFill>
                <a:latin typeface="Segoe UI"/>
              </a:rPr>
              <a:t>Lisa Su</a:t>
            </a:r>
            <a:r>
              <a:rPr sz="1300" b="0" i="0">
                <a:solidFill>
                  <a:srgbClr val="A79F8B"/>
                </a:solidFill>
                <a:latin typeface="Segoe UI"/>
              </a:rPr>
              <a:t>  ·  </a:t>
            </a:r>
            <a:r>
              <a:rPr sz="1300" b="1" i="0">
                <a:solidFill>
                  <a:srgbClr val="EDE6D6"/>
                </a:solidFill>
                <a:latin typeface="Segoe UI"/>
              </a:rPr>
              <a:t>Jensen Huang</a:t>
            </a:r>
            <a:r>
              <a:rPr sz="1300" b="0" i="0">
                <a:solidFill>
                  <a:srgbClr val="A79F8B"/>
                </a:solidFill>
                <a:latin typeface="Segoe UI"/>
              </a:rPr>
              <a:t>  ·  </a:t>
            </a:r>
            <a:r>
              <a:rPr sz="1300" b="1" i="0">
                <a:solidFill>
                  <a:srgbClr val="EDE6D6"/>
                </a:solidFill>
                <a:latin typeface="Segoe UI"/>
              </a:rPr>
              <a:t>Elon Musk</a:t>
            </a:r>
            <a:r>
              <a:rPr sz="1300" b="0" i="0">
                <a:solidFill>
                  <a:srgbClr val="A79F8B"/>
                </a:solidFill>
                <a:latin typeface="Segoe UI"/>
              </a:rPr>
              <a:t>  ·  </a:t>
            </a:r>
            <a:r>
              <a:rPr sz="1300" b="1" i="0">
                <a:solidFill>
                  <a:srgbClr val="EDE6D6"/>
                </a:solidFill>
                <a:latin typeface="Segoe UI"/>
              </a:rPr>
              <a:t>Satya Nadella</a:t>
            </a:r>
            <a:r>
              <a:rPr sz="1300" b="0" i="0">
                <a:solidFill>
                  <a:srgbClr val="A79F8B"/>
                </a:solidFill>
                <a:latin typeface="Segoe UI"/>
              </a:rPr>
              <a:t>  ·  </a:t>
            </a:r>
            <a:r>
              <a:rPr sz="1300" b="1" i="0">
                <a:solidFill>
                  <a:srgbClr val="EDE6D6"/>
                </a:solidFill>
                <a:latin typeface="Segoe UI"/>
              </a:rPr>
              <a:t>Lip-Bu Tan</a:t>
            </a:r>
            <a:r>
              <a:rPr sz="1300" b="0" i="0">
                <a:solidFill>
                  <a:srgbClr val="A79F8B"/>
                </a:solidFill>
                <a:latin typeface="Segoe UI"/>
              </a:rPr>
              <a:t>  ·  </a:t>
            </a:r>
            <a:r>
              <a:rPr sz="1300" b="1" i="0">
                <a:solidFill>
                  <a:srgbClr val="EDE6D6"/>
                </a:solidFill>
                <a:latin typeface="Segoe UI"/>
              </a:rPr>
              <a:t>Mark Zuckerberg</a:t>
            </a:r>
            <a:r>
              <a:rPr sz="1300" b="0" i="0">
                <a:solidFill>
                  <a:srgbClr val="A79F8B"/>
                </a:solidFill>
                <a:latin typeface="Segoe UI"/>
              </a:rPr>
              <a:t>  ·  </a:t>
            </a:r>
            <a:r>
              <a:rPr sz="1300" b="1" i="0">
                <a:solidFill>
                  <a:srgbClr val="EDE6D6"/>
                </a:solidFill>
                <a:latin typeface="Segoe UI"/>
              </a:rPr>
              <a:t>Jamie Dimon</a:t>
            </a:r>
            <a:r>
              <a:rPr sz="1300" b="0" i="0">
                <a:solidFill>
                  <a:srgbClr val="A79F8B"/>
                </a:solidFill>
                <a:latin typeface="Segoe UI"/>
              </a:rPr>
              <a:t>  ·  </a:t>
            </a:r>
            <a:r>
              <a:rPr sz="1300" b="1" i="0">
                <a:solidFill>
                  <a:srgbClr val="EDE6D6"/>
                </a:solidFill>
                <a:latin typeface="Segoe UI"/>
              </a:rPr>
              <a:t>Alex Hormozi</a:t>
            </a:r>
          </a:p>
        </p:txBody>
      </p:sp>
      <p:sp>
        <p:nvSpPr>
          <p:cNvPr id="10" name="TextBox 9"/>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FIELD NOTES</a:t>
            </a:r>
          </a:p>
        </p:txBody>
      </p:sp>
      <p:sp>
        <p:nvSpPr>
          <p:cNvPr id="11" name="TextBox 10"/>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01 / 37</a:t>
            </a:r>
          </a:p>
        </p:txBody>
      </p:sp>
      <p:sp>
        <p:nvSpPr>
          <p:cNvPr id="12" name="Rectangle 11"/>
          <p:cNvSpPr/>
          <p:nvPr/>
        </p:nvSpPr>
        <p:spPr>
          <a:xfrm>
            <a:off x="0" y="0"/>
            <a:ext cx="329505"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I</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ONE</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Building a High-Performing Team</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Seven habits — from calibrating calm to protecting focus — that compound into a team people fight to stay on.</a:t>
            </a:r>
          </a:p>
        </p:txBody>
      </p:sp>
      <p:sp>
        <p:nvSpPr>
          <p:cNvPr id="6" name="TextBox 5"/>
          <p:cNvSpPr txBox="1"/>
          <p:nvPr/>
        </p:nvSpPr>
        <p:spPr>
          <a:xfrm>
            <a:off x="3931920" y="4206240"/>
            <a:ext cx="3657600" cy="731520"/>
          </a:xfrm>
          <a:prstGeom prst="rect">
            <a:avLst/>
          </a:prstGeom>
          <a:noFill/>
        </p:spPr>
        <p:txBody>
          <a:bodyPr wrap="square" anchor="t" lIns="0" rIns="0" tIns="0" bIns="0">
            <a:spAutoFit/>
          </a:bodyPr>
          <a:lstStyle/>
          <a:p>
            <a:r>
              <a:rPr sz="3400" b="1" i="0">
                <a:solidFill>
                  <a:srgbClr val="C89B3C"/>
                </a:solidFill>
                <a:latin typeface="Segoe UI"/>
              </a:rPr>
              <a:t>7  </a:t>
            </a:r>
            <a:r>
              <a:rPr sz="1300" b="0" i="0">
                <a:solidFill>
                  <a:srgbClr val="A79F8B"/>
                </a:solidFill>
                <a:latin typeface="Segoe UI"/>
              </a:rPr>
              <a:t>tips, this chapter</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02 / 37</a:t>
            </a:r>
          </a:p>
        </p:txBody>
      </p:sp>
      <p:sp>
        <p:nvSpPr>
          <p:cNvPr id="9" name="Rectangle 8"/>
          <p:cNvSpPr/>
          <p:nvPr/>
        </p:nvSpPr>
        <p:spPr>
          <a:xfrm>
            <a:off x="0" y="0"/>
            <a:ext cx="659010"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777240"/>
            <a:ext cx="10515600" cy="365760"/>
          </a:xfrm>
          <a:prstGeom prst="rect">
            <a:avLst/>
          </a:prstGeom>
          <a:noFill/>
        </p:spPr>
        <p:txBody>
          <a:bodyPr wrap="square" anchor="t" lIns="0" rIns="0" tIns="0" bIns="0">
            <a:spAutoFit/>
          </a:bodyPr>
          <a:lstStyle/>
          <a:p>
            <a:r>
              <a:rPr sz="1300" b="1" i="0" spc="150">
                <a:solidFill>
                  <a:srgbClr val="C89B3C"/>
                </a:solidFill>
                <a:latin typeface="Segoe UI"/>
              </a:rPr>
              <a:t>TIP 01 · COMPOSURE</a:t>
            </a:r>
          </a:p>
        </p:txBody>
      </p:sp>
      <p:sp>
        <p:nvSpPr>
          <p:cNvPr id="3" name="TextBox 2"/>
          <p:cNvSpPr txBox="1"/>
          <p:nvPr/>
        </p:nvSpPr>
        <p:spPr>
          <a:xfrm>
            <a:off x="822960" y="210312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4" name="TextBox 3"/>
          <p:cNvSpPr txBox="1"/>
          <p:nvPr/>
        </p:nvSpPr>
        <p:spPr>
          <a:xfrm>
            <a:off x="822960" y="2743200"/>
            <a:ext cx="9875520" cy="2194560"/>
          </a:xfrm>
          <a:prstGeom prst="rect">
            <a:avLst/>
          </a:prstGeom>
          <a:noFill/>
        </p:spPr>
        <p:txBody>
          <a:bodyPr wrap="square" anchor="t" lIns="0" rIns="0" tIns="0" bIns="0">
            <a:spAutoFit/>
          </a:bodyPr>
          <a:lstStyle/>
          <a:p>
            <a:pPr>
              <a:lnSpc>
                <a:spcPct val="125000"/>
              </a:lnSpc>
            </a:pPr>
            <a:r>
              <a:rPr sz="3000" b="0" i="1">
                <a:solidFill>
                  <a:srgbClr val="EDE6D6"/>
                </a:solidFill>
                <a:latin typeface="Georgia"/>
              </a:rPr>
              <a:t>Okay — what do we know?</a:t>
            </a:r>
          </a:p>
        </p:txBody>
      </p:sp>
      <p:sp>
        <p:nvSpPr>
          <p:cNvPr id="5" name="TextBox 4"/>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6" name="TextBox 5"/>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03 / 37</a:t>
            </a:r>
          </a:p>
        </p:txBody>
      </p:sp>
      <p:sp>
        <p:nvSpPr>
          <p:cNvPr id="7" name="Rectangle 6"/>
          <p:cNvSpPr/>
          <p:nvPr/>
        </p:nvSpPr>
        <p:spPr>
          <a:xfrm>
            <a:off x="0" y="0"/>
            <a:ext cx="988515"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2800" b="0" i="0">
                <a:solidFill>
                  <a:srgbClr val="EDE6D6"/>
                </a:solidFill>
                <a:latin typeface="Georgia"/>
              </a:rPr>
              <a:t>Be unbothered — calm is contagious</a:t>
            </a:r>
          </a:p>
        </p:txBody>
      </p:sp>
      <p:sp>
        <p:nvSpPr>
          <p:cNvPr id="9" name="TextBox 8"/>
          <p:cNvSpPr txBox="1"/>
          <p:nvPr/>
        </p:nvSpPr>
        <p:spPr>
          <a:xfrm>
            <a:off x="822960" y="182880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Your team calibrates their stress to yours. When something breaks, a steady leader gives everyone permission to think clearly instead of panic.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TIP 02 · PSYCHOLOGICAL SAFETY</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It's okay to fail and move</a:t>
            </a:r>
          </a:p>
        </p:txBody>
      </p:sp>
      <p:sp>
        <p:nvSpPr>
          <p:cNvPr id="4" name="TextBox 3"/>
          <p:cNvSpPr txBox="1"/>
          <p:nvPr/>
        </p:nvSpPr>
        <p:spPr>
          <a:xfrm>
            <a:off x="822960" y="2057400"/>
            <a:ext cx="3291840" cy="1554480"/>
          </a:xfrm>
          <a:prstGeom prst="rect">
            <a:avLst/>
          </a:prstGeom>
          <a:noFill/>
        </p:spPr>
        <p:txBody>
          <a:bodyPr wrap="square" anchor="b" lIns="0" rIns="0" tIns="0" bIns="0">
            <a:spAutoFit/>
          </a:bodyPr>
          <a:lstStyle/>
          <a:p>
            <a:r>
              <a:rPr sz="8600" b="1" i="0">
                <a:solidFill>
                  <a:srgbClr val="C89B3C"/>
                </a:solidFill>
                <a:latin typeface="Segoe UI"/>
              </a:rPr>
              <a:t>#1</a:t>
            </a:r>
          </a:p>
        </p:txBody>
      </p:sp>
      <p:sp>
        <p:nvSpPr>
          <p:cNvPr id="5" name="TextBox 4"/>
          <p:cNvSpPr txBox="1"/>
          <p:nvPr/>
        </p:nvSpPr>
        <p:spPr>
          <a:xfrm>
            <a:off x="4389120" y="2606040"/>
            <a:ext cx="6675120" cy="1280160"/>
          </a:xfrm>
          <a:prstGeom prst="rect">
            <a:avLst/>
          </a:prstGeom>
          <a:noFill/>
        </p:spPr>
        <p:txBody>
          <a:bodyPr wrap="square" anchor="b" lIns="0" rIns="0" tIns="0" bIns="0">
            <a:spAutoFit/>
          </a:bodyPr>
          <a:lstStyle/>
          <a:p>
            <a:r>
              <a:rPr sz="1200" b="0" i="0" spc="90">
                <a:solidFill>
                  <a:srgbClr val="A79F8B"/>
                </a:solidFill>
                <a:latin typeface="Segoe UI"/>
              </a:rPr>
              <a:t>PREDICTOR OF TEAM PERFORMANCE</a:t>
            </a:r>
          </a:p>
          <a:p>
            <a:pPr>
              <a:lnSpc>
                <a:spcPct val="125000"/>
              </a:lnSpc>
              <a:spcBef>
                <a:spcPts val="400"/>
              </a:spcBef>
            </a:pPr>
            <a:r>
              <a:rPr sz="1450" b="0" i="0">
                <a:solidFill>
                  <a:srgbClr val="EDE6D6"/>
                </a:solidFill>
                <a:latin typeface="Segoe UI"/>
              </a:rPr>
              <a:t>Google's Project Aristotle found psychological safety outranks every other factor.</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Punish hiding problems, never revealing them. Run blameless postmortems that ask “what did the system allow?” — not “who messed up?”</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04 / 37</a:t>
            </a:r>
          </a:p>
        </p:txBody>
      </p:sp>
      <p:sp>
        <p:nvSpPr>
          <p:cNvPr id="9" name="Rectangle 8"/>
          <p:cNvSpPr/>
          <p:nvPr/>
        </p:nvSpPr>
        <p:spPr>
          <a:xfrm>
            <a:off x="0" y="0"/>
            <a:ext cx="1318021"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TIPS 03–04 · TRUST &amp; LISTENING</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Trust is earned, listening is fast</a:t>
            </a:r>
          </a:p>
        </p:txBody>
      </p:sp>
      <p:sp>
        <p:nvSpPr>
          <p:cNvPr id="4" name="Rounded Rectangle 3"/>
          <p:cNvSpPr/>
          <p:nvPr/>
        </p:nvSpPr>
        <p:spPr>
          <a:xfrm>
            <a:off x="822960" y="1965960"/>
            <a:ext cx="5143500" cy="201168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a:t>
            </a:r>
          </a:p>
          <a:p>
            <a:pPr>
              <a:spcBef>
                <a:spcPts val="400"/>
              </a:spcBef>
            </a:pPr>
            <a:r>
              <a:rPr sz="1500" b="1" i="0">
                <a:solidFill>
                  <a:srgbClr val="EDE6D6"/>
                </a:solidFill>
                <a:latin typeface="Georgia"/>
              </a:rPr>
              <a:t>Trust = competence × character</a:t>
            </a:r>
          </a:p>
          <a:p>
            <a:pPr>
              <a:lnSpc>
                <a:spcPct val="120000"/>
              </a:lnSpc>
              <a:spcBef>
                <a:spcPts val="400"/>
              </a:spcBef>
            </a:pPr>
            <a:r>
              <a:rPr sz="1150" b="0" i="0">
                <a:solidFill>
                  <a:srgbClr val="A79F8B"/>
                </a:solidFill>
                <a:latin typeface="Segoe UI"/>
              </a:rPr>
              <a:t>Good at the job, consistent in how you treat people. Extend trust first — micromanaging tells people you expect them to fail.</a:t>
            </a:r>
          </a:p>
        </p:txBody>
      </p:sp>
      <p:sp>
        <p:nvSpPr>
          <p:cNvPr id="5" name="Rounded Rectangle 4"/>
          <p:cNvSpPr/>
          <p:nvPr/>
        </p:nvSpPr>
        <p:spPr>
          <a:xfrm>
            <a:off x="6195060" y="1965960"/>
            <a:ext cx="5143500" cy="201168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a:t>
            </a:r>
          </a:p>
          <a:p>
            <a:pPr>
              <a:spcBef>
                <a:spcPts val="400"/>
              </a:spcBef>
            </a:pPr>
            <a:r>
              <a:rPr sz="1500" b="1" i="0">
                <a:solidFill>
                  <a:srgbClr val="EDE6D6"/>
                </a:solidFill>
                <a:latin typeface="Georgia"/>
              </a:rPr>
              <a:t>Ask, don't tell</a:t>
            </a:r>
          </a:p>
          <a:p>
            <a:pPr>
              <a:lnSpc>
                <a:spcPct val="120000"/>
              </a:lnSpc>
              <a:spcBef>
                <a:spcPts val="400"/>
              </a:spcBef>
            </a:pPr>
            <a:r>
              <a:rPr sz="1150" b="0" i="0">
                <a:solidFill>
                  <a:srgbClr val="A79F8B"/>
                </a:solidFill>
                <a:latin typeface="Segoe UI"/>
              </a:rPr>
              <a:t>In 1-on-1s: “what does a win look like for you?” and “what's getting in your way?” — then remove the blocker.</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05 / 37</a:t>
            </a:r>
          </a:p>
        </p:txBody>
      </p:sp>
      <p:sp>
        <p:nvSpPr>
          <p:cNvPr id="8" name="Rectangle 7"/>
          <p:cNvSpPr/>
          <p:nvPr/>
        </p:nvSpPr>
        <p:spPr>
          <a:xfrm>
            <a:off x="0" y="0"/>
            <a:ext cx="1647526"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TIPS 05–07 · STANDARD, PRAISE, FOCUS</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The rest of the chapter</a:t>
            </a:r>
          </a:p>
        </p:txBody>
      </p:sp>
      <p:sp>
        <p:nvSpPr>
          <p:cNvPr id="4" name="Rounded Rectangle 3"/>
          <p:cNvSpPr/>
          <p:nvPr/>
        </p:nvSpPr>
        <p:spPr>
          <a:xfrm>
            <a:off x="822960" y="1965960"/>
            <a:ext cx="3352800" cy="210312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05</a:t>
            </a:r>
          </a:p>
          <a:p>
            <a:pPr>
              <a:spcBef>
                <a:spcPts val="400"/>
              </a:spcBef>
            </a:pPr>
            <a:r>
              <a:rPr sz="1500" b="1" i="0">
                <a:solidFill>
                  <a:srgbClr val="EDE6D6"/>
                </a:solidFill>
                <a:latin typeface="Georgia"/>
              </a:rPr>
              <a:t>Set the standard, not the method</a:t>
            </a:r>
          </a:p>
          <a:p>
            <a:pPr>
              <a:lnSpc>
                <a:spcPct val="120000"/>
              </a:lnSpc>
              <a:spcBef>
                <a:spcPts val="400"/>
              </a:spcBef>
            </a:pPr>
            <a:r>
              <a:rPr sz="1150" b="0" i="0">
                <a:solidFill>
                  <a:srgbClr val="A79F8B"/>
                </a:solidFill>
                <a:latin typeface="Segoe UI"/>
              </a:rPr>
              <a:t>Be crystal clear on what great looks like and why. Let people own the how.</a:t>
            </a:r>
          </a:p>
        </p:txBody>
      </p:sp>
      <p:sp>
        <p:nvSpPr>
          <p:cNvPr id="5" name="Rounded Rectangle 4"/>
          <p:cNvSpPr/>
          <p:nvPr/>
        </p:nvSpPr>
        <p:spPr>
          <a:xfrm>
            <a:off x="4404360" y="1965960"/>
            <a:ext cx="3352800" cy="210312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06</a:t>
            </a:r>
          </a:p>
          <a:p>
            <a:pPr>
              <a:spcBef>
                <a:spcPts val="400"/>
              </a:spcBef>
            </a:pPr>
            <a:r>
              <a:rPr sz="1500" b="1" i="0">
                <a:solidFill>
                  <a:srgbClr val="EDE6D6"/>
                </a:solidFill>
                <a:latin typeface="Georgia"/>
              </a:rPr>
              <a:t>Praise publicly, correct privately</a:t>
            </a:r>
          </a:p>
          <a:p>
            <a:pPr>
              <a:lnSpc>
                <a:spcPct val="120000"/>
              </a:lnSpc>
              <a:spcBef>
                <a:spcPts val="400"/>
              </a:spcBef>
            </a:pPr>
            <a:r>
              <a:rPr sz="1150" b="0" i="0">
                <a:solidFill>
                  <a:srgbClr val="A79F8B"/>
                </a:solidFill>
                <a:latin typeface="Segoe UI"/>
              </a:rPr>
              <a:t>Be specific — generic praise is noise, specific praise teaches.</a:t>
            </a:r>
          </a:p>
        </p:txBody>
      </p:sp>
      <p:sp>
        <p:nvSpPr>
          <p:cNvPr id="6" name="Rounded Rectangle 5"/>
          <p:cNvSpPr/>
          <p:nvPr/>
        </p:nvSpPr>
        <p:spPr>
          <a:xfrm>
            <a:off x="7985760" y="1965960"/>
            <a:ext cx="3352800" cy="210312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07</a:t>
            </a:r>
          </a:p>
          <a:p>
            <a:pPr>
              <a:spcBef>
                <a:spcPts val="400"/>
              </a:spcBef>
            </a:pPr>
            <a:r>
              <a:rPr sz="1500" b="1" i="0">
                <a:solidFill>
                  <a:srgbClr val="EDE6D6"/>
                </a:solidFill>
                <a:latin typeface="Georgia"/>
              </a:rPr>
              <a:t>Protect the team's focus</a:t>
            </a:r>
          </a:p>
          <a:p>
            <a:pPr>
              <a:lnSpc>
                <a:spcPct val="120000"/>
              </a:lnSpc>
              <a:spcBef>
                <a:spcPts val="400"/>
              </a:spcBef>
            </a:pPr>
            <a:r>
              <a:rPr sz="1150" b="0" i="0">
                <a:solidFill>
                  <a:srgbClr val="A79F8B"/>
                </a:solidFill>
                <a:latin typeface="Segoe UI"/>
              </a:rPr>
              <a:t>Absorb organizational noise so the team can do deep work.</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06 / 37</a:t>
            </a:r>
          </a:p>
        </p:txBody>
      </p:sp>
      <p:sp>
        <p:nvSpPr>
          <p:cNvPr id="9" name="Rectangle 8"/>
          <p:cNvSpPr/>
          <p:nvPr/>
        </p:nvSpPr>
        <p:spPr>
          <a:xfrm>
            <a:off x="0" y="0"/>
            <a:ext cx="1977031"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777240"/>
            <a:ext cx="10515600" cy="365760"/>
          </a:xfrm>
          <a:prstGeom prst="rect">
            <a:avLst/>
          </a:prstGeom>
          <a:noFill/>
        </p:spPr>
        <p:txBody>
          <a:bodyPr wrap="square" anchor="t" lIns="0" rIns="0" tIns="0" bIns="0">
            <a:spAutoFit/>
          </a:bodyPr>
          <a:lstStyle/>
          <a:p>
            <a:r>
              <a:rPr sz="1300" b="1" i="0" spc="150">
                <a:solidFill>
                  <a:srgbClr val="C89B3C"/>
                </a:solidFill>
                <a:latin typeface="Segoe UI"/>
              </a:rPr>
              <a:t>A MESSAGE TO INSTILL CONFIDENCE</a:t>
            </a:r>
          </a:p>
        </p:txBody>
      </p:sp>
      <p:sp>
        <p:nvSpPr>
          <p:cNvPr id="3" name="TextBox 2"/>
          <p:cNvSpPr txBox="1"/>
          <p:nvPr/>
        </p:nvSpPr>
        <p:spPr>
          <a:xfrm>
            <a:off x="822960" y="12801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4" name="TextBox 3"/>
          <p:cNvSpPr txBox="1"/>
          <p:nvPr/>
        </p:nvSpPr>
        <p:spPr>
          <a:xfrm>
            <a:off x="822960" y="1920240"/>
            <a:ext cx="9875520" cy="2194560"/>
          </a:xfrm>
          <a:prstGeom prst="rect">
            <a:avLst/>
          </a:prstGeom>
          <a:noFill/>
        </p:spPr>
        <p:txBody>
          <a:bodyPr wrap="square" anchor="t" lIns="0" rIns="0" tIns="0" bIns="0">
            <a:spAutoFit/>
          </a:bodyPr>
          <a:lstStyle/>
          <a:p>
            <a:pPr>
              <a:lnSpc>
                <a:spcPct val="125000"/>
              </a:lnSpc>
            </a:pPr>
            <a:r>
              <a:rPr sz="2000" b="0" i="1">
                <a:solidFill>
                  <a:srgbClr val="EDE6D6"/>
                </a:solidFill>
                <a:latin typeface="Georgia"/>
              </a:rPr>
              <a:t>I didn't build this team by accident. Every person here was chosen because you're capable of more than you probably give yourselves credit for. Mistakes made while pushing forward are tuition, not failure. You don't need to be the loudest person in the room to be valuable here — you need to be curious, honest, and willing to grow.</a:t>
            </a:r>
          </a:p>
        </p:txBody>
      </p:sp>
      <p:sp>
        <p:nvSpPr>
          <p:cNvPr id="5" name="TextBox 4"/>
          <p:cNvSpPr txBox="1"/>
          <p:nvPr/>
        </p:nvSpPr>
        <p:spPr>
          <a:xfrm>
            <a:off x="822960" y="3840480"/>
            <a:ext cx="9875520" cy="822960"/>
          </a:xfrm>
          <a:prstGeom prst="rect">
            <a:avLst/>
          </a:prstGeom>
          <a:noFill/>
        </p:spPr>
        <p:txBody>
          <a:bodyPr wrap="square" anchor="t" lIns="0" rIns="0" tIns="0" bIns="0">
            <a:spAutoFit/>
          </a:bodyPr>
          <a:lstStyle/>
          <a:p>
            <a:r>
              <a:rPr sz="1100" b="0" i="0" spc="90">
                <a:solidFill>
                  <a:srgbClr val="A79F8B"/>
                </a:solidFill>
                <a:latin typeface="Segoe UI"/>
              </a:rPr>
              <a:t>READ TO THE TEAM, IN YOUR OWN WORDS</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 · HIGH-PERFORMING TEAMS</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07 / 37</a:t>
            </a:r>
          </a:p>
        </p:txBody>
      </p:sp>
      <p:sp>
        <p:nvSpPr>
          <p:cNvPr id="8" name="Rectangle 7"/>
          <p:cNvSpPr/>
          <p:nvPr/>
        </p:nvSpPr>
        <p:spPr>
          <a:xfrm>
            <a:off x="0" y="0"/>
            <a:ext cx="2306536"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II</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TWO · JESSICA CHEN</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Smart, Not Loud</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Many of us were raised in a Quiet Culture — humility, head-down work — but operate inside a Loud Culture workplace. The fix isn't volume. It's communicating smart.</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 · SMART, NOT LOUD</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08 / 37</a:t>
            </a:r>
          </a:p>
        </p:txBody>
      </p:sp>
      <p:sp>
        <p:nvSpPr>
          <p:cNvPr id="8" name="Rectangle 7"/>
          <p:cNvSpPr/>
          <p:nvPr/>
        </p:nvSpPr>
        <p:spPr>
          <a:xfrm>
            <a:off x="0" y="0"/>
            <a:ext cx="2636042"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THE 4A SEQUENCE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How to speak up in meetings</a:t>
            </a:r>
          </a:p>
        </p:txBody>
      </p:sp>
      <p:sp>
        <p:nvSpPr>
          <p:cNvPr id="4" name="TextBox 3"/>
          <p:cNvSpPr txBox="1"/>
          <p:nvPr/>
        </p:nvSpPr>
        <p:spPr>
          <a:xfrm>
            <a:off x="822960" y="1965960"/>
            <a:ext cx="640080" cy="566928"/>
          </a:xfrm>
          <a:prstGeom prst="rect">
            <a:avLst/>
          </a:prstGeom>
          <a:noFill/>
        </p:spPr>
        <p:txBody>
          <a:bodyPr wrap="square" anchor="t" lIns="0" rIns="0" tIns="0" bIns="0">
            <a:spAutoFit/>
          </a:bodyPr>
          <a:lstStyle/>
          <a:p>
            <a:r>
              <a:rPr sz="1600" b="1" i="0">
                <a:solidFill>
                  <a:srgbClr val="C89B3C"/>
                </a:solidFill>
                <a:latin typeface="Segoe UI"/>
              </a:rPr>
              <a:t>01</a:t>
            </a:r>
          </a:p>
        </p:txBody>
      </p:sp>
      <p:sp>
        <p:nvSpPr>
          <p:cNvPr id="5" name="TextBox 4"/>
          <p:cNvSpPr txBox="1"/>
          <p:nvPr/>
        </p:nvSpPr>
        <p:spPr>
          <a:xfrm>
            <a:off x="1508760" y="1965960"/>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Active listening </a:t>
            </a:r>
            <a:r>
              <a:rPr sz="1400" b="0" i="0">
                <a:solidFill>
                  <a:srgbClr val="A79F8B"/>
                </a:solidFill>
                <a:latin typeface="Segoe UI"/>
              </a:rPr>
              <a:t>— spot the right moment to chime in.</a:t>
            </a:r>
          </a:p>
        </p:txBody>
      </p:sp>
      <p:sp>
        <p:nvSpPr>
          <p:cNvPr id="6" name="TextBox 5"/>
          <p:cNvSpPr txBox="1"/>
          <p:nvPr/>
        </p:nvSpPr>
        <p:spPr>
          <a:xfrm>
            <a:off x="822960" y="2532888"/>
            <a:ext cx="640080" cy="566928"/>
          </a:xfrm>
          <a:prstGeom prst="rect">
            <a:avLst/>
          </a:prstGeom>
          <a:noFill/>
        </p:spPr>
        <p:txBody>
          <a:bodyPr wrap="square" anchor="t" lIns="0" rIns="0" tIns="0" bIns="0">
            <a:spAutoFit/>
          </a:bodyPr>
          <a:lstStyle/>
          <a:p>
            <a:r>
              <a:rPr sz="1600" b="1" i="0">
                <a:solidFill>
                  <a:srgbClr val="C89B3C"/>
                </a:solidFill>
                <a:latin typeface="Segoe UI"/>
              </a:rPr>
              <a:t>02</a:t>
            </a:r>
          </a:p>
        </p:txBody>
      </p:sp>
      <p:sp>
        <p:nvSpPr>
          <p:cNvPr id="7" name="TextBox 6"/>
          <p:cNvSpPr txBox="1"/>
          <p:nvPr/>
        </p:nvSpPr>
        <p:spPr>
          <a:xfrm>
            <a:off x="1508760" y="2532888"/>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Acknowledge </a:t>
            </a:r>
            <a:r>
              <a:rPr sz="1400" b="0" i="0">
                <a:solidFill>
                  <a:srgbClr val="A79F8B"/>
                </a:solidFill>
                <a:latin typeface="Segoe UI"/>
              </a:rPr>
              <a:t>— credit the previous speaker first.</a:t>
            </a:r>
          </a:p>
        </p:txBody>
      </p:sp>
      <p:sp>
        <p:nvSpPr>
          <p:cNvPr id="8" name="TextBox 7"/>
          <p:cNvSpPr txBox="1"/>
          <p:nvPr/>
        </p:nvSpPr>
        <p:spPr>
          <a:xfrm>
            <a:off x="822960" y="3099816"/>
            <a:ext cx="640080" cy="566928"/>
          </a:xfrm>
          <a:prstGeom prst="rect">
            <a:avLst/>
          </a:prstGeom>
          <a:noFill/>
        </p:spPr>
        <p:txBody>
          <a:bodyPr wrap="square" anchor="t" lIns="0" rIns="0" tIns="0" bIns="0">
            <a:spAutoFit/>
          </a:bodyPr>
          <a:lstStyle/>
          <a:p>
            <a:r>
              <a:rPr sz="1600" b="1" i="0">
                <a:solidFill>
                  <a:srgbClr val="C89B3C"/>
                </a:solidFill>
                <a:latin typeface="Segoe UI"/>
              </a:rPr>
              <a:t>03</a:t>
            </a:r>
          </a:p>
        </p:txBody>
      </p:sp>
      <p:sp>
        <p:nvSpPr>
          <p:cNvPr id="9" name="TextBox 8"/>
          <p:cNvSpPr txBox="1"/>
          <p:nvPr/>
        </p:nvSpPr>
        <p:spPr>
          <a:xfrm>
            <a:off x="1508760" y="3099816"/>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Anchor </a:t>
            </a:r>
            <a:r>
              <a:rPr sz="1400" b="0" i="0">
                <a:solidFill>
                  <a:srgbClr val="A79F8B"/>
                </a:solidFill>
                <a:latin typeface="Segoe UI"/>
              </a:rPr>
              <a:t>— pick up their last words and build on them.</a:t>
            </a:r>
          </a:p>
        </p:txBody>
      </p:sp>
      <p:sp>
        <p:nvSpPr>
          <p:cNvPr id="10" name="TextBox 9"/>
          <p:cNvSpPr txBox="1"/>
          <p:nvPr/>
        </p:nvSpPr>
        <p:spPr>
          <a:xfrm>
            <a:off x="822960" y="3666744"/>
            <a:ext cx="640080" cy="566928"/>
          </a:xfrm>
          <a:prstGeom prst="rect">
            <a:avLst/>
          </a:prstGeom>
          <a:noFill/>
        </p:spPr>
        <p:txBody>
          <a:bodyPr wrap="square" anchor="t" lIns="0" rIns="0" tIns="0" bIns="0">
            <a:spAutoFit/>
          </a:bodyPr>
          <a:lstStyle/>
          <a:p>
            <a:r>
              <a:rPr sz="1600" b="1" i="0">
                <a:solidFill>
                  <a:srgbClr val="C89B3C"/>
                </a:solidFill>
                <a:latin typeface="Segoe UI"/>
              </a:rPr>
              <a:t>04</a:t>
            </a:r>
          </a:p>
        </p:txBody>
      </p:sp>
      <p:sp>
        <p:nvSpPr>
          <p:cNvPr id="11" name="TextBox 10"/>
          <p:cNvSpPr txBox="1"/>
          <p:nvPr/>
        </p:nvSpPr>
        <p:spPr>
          <a:xfrm>
            <a:off x="1508760" y="3666744"/>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Answer </a:t>
            </a:r>
            <a:r>
              <a:rPr sz="1400" b="0" i="0">
                <a:solidFill>
                  <a:srgbClr val="A79F8B"/>
                </a:solidFill>
                <a:latin typeface="Segoe UI"/>
              </a:rPr>
              <a:t>— then make your point.</a:t>
            </a:r>
          </a:p>
        </p:txBody>
      </p:sp>
      <p:sp>
        <p:nvSpPr>
          <p:cNvPr id="12" name="TextBox 11"/>
          <p:cNvSpPr txBox="1"/>
          <p:nvPr/>
        </p:nvSpPr>
        <p:spPr>
          <a:xfrm>
            <a:off x="822960" y="4480560"/>
            <a:ext cx="9692640" cy="1463040"/>
          </a:xfrm>
          <a:prstGeom prst="rect">
            <a:avLst/>
          </a:prstGeom>
          <a:noFill/>
        </p:spPr>
        <p:txBody>
          <a:bodyPr wrap="square" anchor="t" lIns="0" rIns="0" tIns="0" bIns="0">
            <a:spAutoFit/>
          </a:bodyPr>
          <a:lstStyle/>
          <a:p>
            <a:pPr>
              <a:lnSpc>
                <a:spcPct val="130000"/>
              </a:lnSpc>
            </a:pPr>
            <a:r>
              <a:rPr sz="1350" b="0" i="0">
                <a:solidFill>
                  <a:srgbClr val="A79F8B"/>
                </a:solidFill>
                <a:latin typeface="Segoe UI"/>
              </a:rPr>
              <a:t>Bonus: speak within the first 5–10 minutes of a meeting — the longer you wait, the more you talk yourself out of it.</a:t>
            </a:r>
          </a:p>
        </p:txBody>
      </p:sp>
      <p:sp>
        <p:nvSpPr>
          <p:cNvPr id="13" name="TextBox 12"/>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 · SMART, NOT LOUD</a:t>
            </a:r>
          </a:p>
        </p:txBody>
      </p:sp>
      <p:sp>
        <p:nvSpPr>
          <p:cNvPr id="14" name="TextBox 13"/>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09 / 37</a:t>
            </a:r>
          </a:p>
        </p:txBody>
      </p:sp>
      <p:sp>
        <p:nvSpPr>
          <p:cNvPr id="15" name="Rectangle 14"/>
          <p:cNvSpPr/>
          <p:nvPr/>
        </p:nvSpPr>
        <p:spPr>
          <a:xfrm>
            <a:off x="0" y="0"/>
            <a:ext cx="2965547"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AUDIENCE FIRST</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Two questions before you speak</a:t>
            </a:r>
          </a:p>
        </p:txBody>
      </p:sp>
      <p:sp>
        <p:nvSpPr>
          <p:cNvPr id="4" name="Rounded Rectangle 3"/>
          <p:cNvSpPr/>
          <p:nvPr/>
        </p:nvSpPr>
        <p:spPr>
          <a:xfrm>
            <a:off x="822960" y="1965960"/>
            <a:ext cx="5143500" cy="2194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“Who am I speaking with, and what do they care about?”</a:t>
            </a:r>
          </a:p>
          <a:p>
            <a:pPr>
              <a:lnSpc>
                <a:spcPct val="120000"/>
              </a:lnSpc>
              <a:spcBef>
                <a:spcPts val="400"/>
              </a:spcBef>
            </a:pPr>
            <a:r>
              <a:rPr sz="1150" b="0" i="0">
                <a:solidFill>
                  <a:srgbClr val="A79F8B"/>
                </a:solidFill>
                <a:latin typeface="Segoe UI"/>
              </a:rPr>
              <a:t>Build trust by asking others what success looks like for them — instead of proving how smart you are.</a:t>
            </a:r>
          </a:p>
        </p:txBody>
      </p:sp>
      <p:sp>
        <p:nvSpPr>
          <p:cNvPr id="5" name="Rounded Rectangle 4"/>
          <p:cNvSpPr/>
          <p:nvPr/>
        </p:nvSpPr>
        <p:spPr>
          <a:xfrm>
            <a:off x="6195060" y="1965960"/>
            <a:ext cx="5143500" cy="2194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“What's the point I'm trying to make here?”</a:t>
            </a:r>
          </a:p>
          <a:p>
            <a:pPr>
              <a:lnSpc>
                <a:spcPct val="120000"/>
              </a:lnSpc>
              <a:spcBef>
                <a:spcPts val="400"/>
              </a:spcBef>
            </a:pPr>
            <a:r>
              <a:rPr sz="1150" b="0" i="0">
                <a:solidFill>
                  <a:srgbClr val="A79F8B"/>
                </a:solidFill>
                <a:latin typeface="Segoe UI"/>
              </a:rPr>
              <a:t>Chen's golden question of communication. Teach it to anyone who rambles.</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 · SMART, NOT LOUD</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10 / 37</a:t>
            </a:r>
          </a:p>
        </p:txBody>
      </p:sp>
      <p:sp>
        <p:nvSpPr>
          <p:cNvPr id="8" name="Rectangle 7"/>
          <p:cNvSpPr/>
          <p:nvPr/>
        </p:nvSpPr>
        <p:spPr>
          <a:xfrm>
            <a:off x="0" y="0"/>
            <a:ext cx="3295052"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QUIET CAPITAL FRAMEWORK</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Get noticed without getting loud</a:t>
            </a:r>
          </a:p>
        </p:txBody>
      </p:sp>
      <p:sp>
        <p:nvSpPr>
          <p:cNvPr id="4" name="TextBox 3"/>
          <p:cNvSpPr txBox="1"/>
          <p:nvPr/>
        </p:nvSpPr>
        <p:spPr>
          <a:xfrm>
            <a:off x="822960" y="1965960"/>
            <a:ext cx="640080" cy="566928"/>
          </a:xfrm>
          <a:prstGeom prst="rect">
            <a:avLst/>
          </a:prstGeom>
          <a:noFill/>
        </p:spPr>
        <p:txBody>
          <a:bodyPr wrap="square" anchor="t" lIns="0" rIns="0" tIns="0" bIns="0">
            <a:spAutoFit/>
          </a:bodyPr>
          <a:lstStyle/>
          <a:p>
            <a:r>
              <a:rPr sz="1600" b="1" i="0">
                <a:solidFill>
                  <a:srgbClr val="C89B3C"/>
                </a:solidFill>
                <a:latin typeface="Segoe UI"/>
              </a:rPr>
              <a:t>01</a:t>
            </a:r>
          </a:p>
        </p:txBody>
      </p:sp>
      <p:sp>
        <p:nvSpPr>
          <p:cNvPr id="5" name="TextBox 4"/>
          <p:cNvSpPr txBox="1"/>
          <p:nvPr/>
        </p:nvSpPr>
        <p:spPr>
          <a:xfrm>
            <a:off x="1508760" y="1965960"/>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Shape your career brand </a:t>
            </a:r>
            <a:r>
              <a:rPr sz="1400" b="0" i="0">
                <a:solidFill>
                  <a:srgbClr val="A79F8B"/>
                </a:solidFill>
                <a:latin typeface="Segoe UI"/>
              </a:rPr>
              <a:t>— decide what you want to be known for.</a:t>
            </a:r>
          </a:p>
        </p:txBody>
      </p:sp>
      <p:sp>
        <p:nvSpPr>
          <p:cNvPr id="6" name="TextBox 5"/>
          <p:cNvSpPr txBox="1"/>
          <p:nvPr/>
        </p:nvSpPr>
        <p:spPr>
          <a:xfrm>
            <a:off x="822960" y="2532888"/>
            <a:ext cx="640080" cy="566928"/>
          </a:xfrm>
          <a:prstGeom prst="rect">
            <a:avLst/>
          </a:prstGeom>
          <a:noFill/>
        </p:spPr>
        <p:txBody>
          <a:bodyPr wrap="square" anchor="t" lIns="0" rIns="0" tIns="0" bIns="0">
            <a:spAutoFit/>
          </a:bodyPr>
          <a:lstStyle/>
          <a:p>
            <a:r>
              <a:rPr sz="1600" b="1" i="0">
                <a:solidFill>
                  <a:srgbClr val="C89B3C"/>
                </a:solidFill>
                <a:latin typeface="Segoe UI"/>
              </a:rPr>
              <a:t>02</a:t>
            </a:r>
          </a:p>
        </p:txBody>
      </p:sp>
      <p:sp>
        <p:nvSpPr>
          <p:cNvPr id="7" name="TextBox 6"/>
          <p:cNvSpPr txBox="1"/>
          <p:nvPr/>
        </p:nvSpPr>
        <p:spPr>
          <a:xfrm>
            <a:off x="1508760" y="2532888"/>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Establish credibility </a:t>
            </a:r>
            <a:r>
              <a:rPr sz="1400" b="0" i="0">
                <a:solidFill>
                  <a:srgbClr val="A79F8B"/>
                </a:solidFill>
                <a:latin typeface="Segoe UI"/>
              </a:rPr>
              <a:t>— visible competence, delivered consistently.</a:t>
            </a:r>
          </a:p>
        </p:txBody>
      </p:sp>
      <p:sp>
        <p:nvSpPr>
          <p:cNvPr id="8" name="TextBox 7"/>
          <p:cNvSpPr txBox="1"/>
          <p:nvPr/>
        </p:nvSpPr>
        <p:spPr>
          <a:xfrm>
            <a:off x="822960" y="3099816"/>
            <a:ext cx="640080" cy="566928"/>
          </a:xfrm>
          <a:prstGeom prst="rect">
            <a:avLst/>
          </a:prstGeom>
          <a:noFill/>
        </p:spPr>
        <p:txBody>
          <a:bodyPr wrap="square" anchor="t" lIns="0" rIns="0" tIns="0" bIns="0">
            <a:spAutoFit/>
          </a:bodyPr>
          <a:lstStyle/>
          <a:p>
            <a:r>
              <a:rPr sz="1600" b="1" i="0">
                <a:solidFill>
                  <a:srgbClr val="C89B3C"/>
                </a:solidFill>
                <a:latin typeface="Segoe UI"/>
              </a:rPr>
              <a:t>03</a:t>
            </a:r>
          </a:p>
        </p:txBody>
      </p:sp>
      <p:sp>
        <p:nvSpPr>
          <p:cNvPr id="9" name="TextBox 8"/>
          <p:cNvSpPr txBox="1"/>
          <p:nvPr/>
        </p:nvSpPr>
        <p:spPr>
          <a:xfrm>
            <a:off x="1508760" y="3099816"/>
            <a:ext cx="9555480" cy="566928"/>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Advocate for yourself </a:t>
            </a:r>
            <a:r>
              <a:rPr sz="1400" b="0" i="0">
                <a:solidFill>
                  <a:srgbClr val="A79F8B"/>
                </a:solidFill>
                <a:latin typeface="Segoe UI"/>
              </a:rPr>
              <a:t>— celebrate wins publicly, ask for what you want, follow up.</a:t>
            </a:r>
          </a:p>
        </p:txBody>
      </p:sp>
      <p:sp>
        <p:nvSpPr>
          <p:cNvPr id="10" name="TextBox 9"/>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350" b="0" i="0">
                <a:solidFill>
                  <a:srgbClr val="A79F8B"/>
                </a:solidFill>
                <a:latin typeface="Segoe UI"/>
              </a:rPr>
              <a:t>Executive presence is inner confidence plus making others feel heard, valued, engaged — not a title.</a:t>
            </a:r>
          </a:p>
        </p:txBody>
      </p:sp>
      <p:sp>
        <p:nvSpPr>
          <p:cNvPr id="11" name="TextBox 10"/>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 · SMART, NOT LOUD</a:t>
            </a:r>
          </a:p>
        </p:txBody>
      </p:sp>
      <p:sp>
        <p:nvSpPr>
          <p:cNvPr id="12" name="TextBox 11"/>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11 / 37</a:t>
            </a:r>
          </a:p>
        </p:txBody>
      </p:sp>
      <p:sp>
        <p:nvSpPr>
          <p:cNvPr id="13" name="Rectangle 12"/>
          <p:cNvSpPr/>
          <p:nvPr/>
        </p:nvSpPr>
        <p:spPr>
          <a:xfrm>
            <a:off x="0" y="0"/>
            <a:ext cx="3624557"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III</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THREE · SIMON SINEK</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Inspiring Leadership</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Leadership is not about being in charge — it's about taking care of those in your charge. People don't buy what you do; they buy why you do it.</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12 / 37</a:t>
            </a:r>
          </a:p>
        </p:txBody>
      </p:sp>
      <p:sp>
        <p:nvSpPr>
          <p:cNvPr id="8" name="Rectangle 7"/>
          <p:cNvSpPr/>
          <p:nvPr/>
        </p:nvSpPr>
        <p:spPr>
          <a:xfrm>
            <a:off x="0" y="0"/>
            <a:ext cx="3954063"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THE GOLDEN CIRCLE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Why → How → What</a:t>
            </a:r>
          </a:p>
        </p:txBody>
      </p:sp>
      <p:sp>
        <p:nvSpPr>
          <p:cNvPr id="4" name="Rounded Rectangle 3"/>
          <p:cNvSpPr/>
          <p:nvPr/>
        </p:nvSpPr>
        <p:spPr>
          <a:xfrm>
            <a:off x="822960" y="1965960"/>
            <a:ext cx="3352800" cy="146304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1</a:t>
            </a:r>
          </a:p>
          <a:p>
            <a:pPr>
              <a:spcBef>
                <a:spcPts val="400"/>
              </a:spcBef>
            </a:pPr>
            <a:r>
              <a:rPr sz="1500" b="1" i="0">
                <a:solidFill>
                  <a:srgbClr val="EDE6D6"/>
                </a:solidFill>
                <a:latin typeface="Georgia"/>
              </a:rPr>
              <a:t>Why</a:t>
            </a:r>
          </a:p>
          <a:p>
            <a:pPr>
              <a:lnSpc>
                <a:spcPct val="120000"/>
              </a:lnSpc>
              <a:spcBef>
                <a:spcPts val="400"/>
              </a:spcBef>
            </a:pPr>
            <a:r>
              <a:rPr sz="1150" b="0" i="0">
                <a:solidFill>
                  <a:srgbClr val="A79F8B"/>
                </a:solidFill>
                <a:latin typeface="Segoe UI"/>
              </a:rPr>
              <a:t>Purpose. State it first — always.</a:t>
            </a:r>
          </a:p>
        </p:txBody>
      </p:sp>
      <p:sp>
        <p:nvSpPr>
          <p:cNvPr id="5" name="Rounded Rectangle 4"/>
          <p:cNvSpPr/>
          <p:nvPr/>
        </p:nvSpPr>
        <p:spPr>
          <a:xfrm>
            <a:off x="4404360" y="1965960"/>
            <a:ext cx="3352800" cy="146304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2</a:t>
            </a:r>
          </a:p>
          <a:p>
            <a:pPr>
              <a:spcBef>
                <a:spcPts val="400"/>
              </a:spcBef>
            </a:pPr>
            <a:r>
              <a:rPr sz="1500" b="1" i="0">
                <a:solidFill>
                  <a:srgbClr val="EDE6D6"/>
                </a:solidFill>
                <a:latin typeface="Georgia"/>
              </a:rPr>
              <a:t>How</a:t>
            </a:r>
          </a:p>
          <a:p>
            <a:pPr>
              <a:lnSpc>
                <a:spcPct val="120000"/>
              </a:lnSpc>
              <a:spcBef>
                <a:spcPts val="400"/>
              </a:spcBef>
            </a:pPr>
            <a:r>
              <a:rPr sz="1150" b="0" i="0">
                <a:solidFill>
                  <a:srgbClr val="A79F8B"/>
                </a:solidFill>
                <a:latin typeface="Segoe UI"/>
              </a:rPr>
              <a:t>Process. The path you'll take.</a:t>
            </a:r>
          </a:p>
        </p:txBody>
      </p:sp>
      <p:sp>
        <p:nvSpPr>
          <p:cNvPr id="6" name="Rounded Rectangle 5"/>
          <p:cNvSpPr/>
          <p:nvPr/>
        </p:nvSpPr>
        <p:spPr>
          <a:xfrm>
            <a:off x="7985760" y="1965960"/>
            <a:ext cx="3352800" cy="146304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3</a:t>
            </a:r>
          </a:p>
          <a:p>
            <a:pPr>
              <a:spcBef>
                <a:spcPts val="400"/>
              </a:spcBef>
            </a:pPr>
            <a:r>
              <a:rPr sz="1500" b="1" i="0">
                <a:solidFill>
                  <a:srgbClr val="EDE6D6"/>
                </a:solidFill>
                <a:latin typeface="Georgia"/>
              </a:rPr>
              <a:t>What</a:t>
            </a:r>
          </a:p>
          <a:p>
            <a:pPr>
              <a:lnSpc>
                <a:spcPct val="120000"/>
              </a:lnSpc>
              <a:spcBef>
                <a:spcPts val="400"/>
              </a:spcBef>
            </a:pPr>
            <a:r>
              <a:rPr sz="1150" b="0" i="0">
                <a:solidFill>
                  <a:srgbClr val="A79F8B"/>
                </a:solidFill>
                <a:latin typeface="Segoe UI"/>
              </a:rPr>
              <a:t>Product. The deliverable, last.</a:t>
            </a:r>
          </a:p>
        </p:txBody>
      </p:sp>
      <p:sp>
        <p:nvSpPr>
          <p:cNvPr id="7" name="TextBox 6"/>
          <p:cNvSpPr txBox="1"/>
          <p:nvPr/>
        </p:nvSpPr>
        <p:spPr>
          <a:xfrm>
            <a:off x="822960" y="3657600"/>
            <a:ext cx="9692640" cy="1463040"/>
          </a:xfrm>
          <a:prstGeom prst="rect">
            <a:avLst/>
          </a:prstGeom>
          <a:noFill/>
        </p:spPr>
        <p:txBody>
          <a:bodyPr wrap="square" anchor="t" lIns="0" rIns="0" tIns="0" bIns="0">
            <a:spAutoFit/>
          </a:bodyPr>
          <a:lstStyle/>
          <a:p>
            <a:pPr>
              <a:lnSpc>
                <a:spcPct val="130000"/>
              </a:lnSpc>
            </a:pPr>
            <a:r>
              <a:rPr sz="1350" b="0" i="0">
                <a:solidFill>
                  <a:srgbClr val="A79F8B"/>
                </a:solidFill>
                <a:latin typeface="Segoe UI"/>
              </a:rPr>
              <a:t>A team that knows why the work matters will out-perform a team that only knows what to deliver.</a:t>
            </a:r>
          </a:p>
        </p:txBody>
      </p:sp>
      <p:sp>
        <p:nvSpPr>
          <p:cNvPr id="8" name="TextBox 7"/>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9" name="TextBox 8"/>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13 / 37</a:t>
            </a:r>
          </a:p>
        </p:txBody>
      </p:sp>
      <p:sp>
        <p:nvSpPr>
          <p:cNvPr id="10" name="Rectangle 9"/>
          <p:cNvSpPr/>
          <p:nvPr/>
        </p:nvSpPr>
        <p:spPr>
          <a:xfrm>
            <a:off x="0" y="0"/>
            <a:ext cx="4283568"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LEADERS EAT LAST</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The Circle of Safety</a:t>
            </a:r>
          </a:p>
        </p:txBody>
      </p:sp>
      <p:sp>
        <p:nvSpPr>
          <p:cNvPr id="4" name="TextBox 3"/>
          <p:cNvSpPr txBox="1"/>
          <p:nvPr/>
        </p:nvSpPr>
        <p:spPr>
          <a:xfrm>
            <a:off x="822960" y="1965960"/>
            <a:ext cx="969264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When people feel protected from internal politics, blame, and fear, they spend their energy on the work and on each other — not on self-defense. Trust is built in small, consistent moments.</a:t>
            </a:r>
          </a:p>
        </p:txBody>
      </p:sp>
      <p:sp>
        <p:nvSpPr>
          <p:cNvPr id="5" name="TextBox 4"/>
          <p:cNvSpPr txBox="1"/>
          <p:nvPr/>
        </p:nvSpPr>
        <p:spPr>
          <a:xfrm>
            <a:off x="822960" y="237744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6" name="TextBox 5"/>
          <p:cNvSpPr txBox="1"/>
          <p:nvPr/>
        </p:nvSpPr>
        <p:spPr>
          <a:xfrm>
            <a:off x="822960" y="3017520"/>
            <a:ext cx="9875520" cy="2194560"/>
          </a:xfrm>
          <a:prstGeom prst="rect">
            <a:avLst/>
          </a:prstGeom>
          <a:noFill/>
        </p:spPr>
        <p:txBody>
          <a:bodyPr wrap="square" anchor="t" lIns="0" rIns="0" tIns="0" bIns="0">
            <a:spAutoFit/>
          </a:bodyPr>
          <a:lstStyle/>
          <a:p>
            <a:pPr>
              <a:lnSpc>
                <a:spcPct val="125000"/>
              </a:lnSpc>
            </a:pPr>
            <a:r>
              <a:rPr sz="2000" b="0" i="1">
                <a:solidFill>
                  <a:srgbClr val="EDE6D6"/>
                </a:solidFill>
                <a:latin typeface="Georgia"/>
              </a:rPr>
              <a:t>In the Marines, officers eat last. Leadership is sacrifice — the leader's comfort comes after the team's.</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14 / 37</a:t>
            </a:r>
          </a:p>
        </p:txBody>
      </p:sp>
      <p:sp>
        <p:nvSpPr>
          <p:cNvPr id="9" name="Rectangle 8"/>
          <p:cNvSpPr/>
          <p:nvPr/>
        </p:nvSpPr>
        <p:spPr>
          <a:xfrm>
            <a:off x="0" y="0"/>
            <a:ext cx="4613073"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THE INFINITE GAME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Business has no finish line</a:t>
            </a:r>
          </a:p>
        </p:txBody>
      </p:sp>
      <p:sp>
        <p:nvSpPr>
          <p:cNvPr id="4" name="TextBox 3"/>
          <p:cNvSpPr txBox="1"/>
          <p:nvPr/>
        </p:nvSpPr>
        <p:spPr>
          <a:xfrm>
            <a:off x="822960" y="196596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Finite-minded leaders play to win the quarter. Infinite-minded leaders play to keep playing and keep improving. Five practices:</a:t>
            </a:r>
          </a:p>
        </p:txBody>
      </p:sp>
      <p:sp>
        <p:nvSpPr>
          <p:cNvPr id="5" name="Rounded Rectangle 4"/>
          <p:cNvSpPr/>
          <p:nvPr/>
        </p:nvSpPr>
        <p:spPr>
          <a:xfrm>
            <a:off x="822960" y="2743200"/>
            <a:ext cx="3352800" cy="1051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A just cause</a:t>
            </a:r>
          </a:p>
        </p:txBody>
      </p:sp>
      <p:sp>
        <p:nvSpPr>
          <p:cNvPr id="6" name="Rounded Rectangle 5"/>
          <p:cNvSpPr/>
          <p:nvPr/>
        </p:nvSpPr>
        <p:spPr>
          <a:xfrm>
            <a:off x="4404360" y="2743200"/>
            <a:ext cx="3352800" cy="1051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Trusting teams</a:t>
            </a:r>
          </a:p>
        </p:txBody>
      </p:sp>
      <p:sp>
        <p:nvSpPr>
          <p:cNvPr id="7" name="Rounded Rectangle 6"/>
          <p:cNvSpPr/>
          <p:nvPr/>
        </p:nvSpPr>
        <p:spPr>
          <a:xfrm>
            <a:off x="7985760" y="2743200"/>
            <a:ext cx="3352800" cy="1051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Worthy rivals</a:t>
            </a:r>
          </a:p>
        </p:txBody>
      </p:sp>
      <p:sp>
        <p:nvSpPr>
          <p:cNvPr id="8" name="Rounded Rectangle 7"/>
          <p:cNvSpPr/>
          <p:nvPr/>
        </p:nvSpPr>
        <p:spPr>
          <a:xfrm>
            <a:off x="822960" y="4023360"/>
            <a:ext cx="3352800" cy="1051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Existential flexibility</a:t>
            </a:r>
          </a:p>
        </p:txBody>
      </p:sp>
      <p:sp>
        <p:nvSpPr>
          <p:cNvPr id="9" name="Rounded Rectangle 8"/>
          <p:cNvSpPr/>
          <p:nvPr/>
        </p:nvSpPr>
        <p:spPr>
          <a:xfrm>
            <a:off x="4404360" y="4023360"/>
            <a:ext cx="3352800" cy="10515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Courage to lead</a:t>
            </a:r>
          </a:p>
        </p:txBody>
      </p:sp>
      <p:sp>
        <p:nvSpPr>
          <p:cNvPr id="10" name="TextBox 9"/>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11" name="TextBox 10"/>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15 / 37</a:t>
            </a:r>
          </a:p>
        </p:txBody>
      </p:sp>
      <p:sp>
        <p:nvSpPr>
          <p:cNvPr id="12" name="Rectangle 11"/>
          <p:cNvSpPr/>
          <p:nvPr/>
        </p:nvSpPr>
        <p:spPr>
          <a:xfrm>
            <a:off x="0" y="0"/>
            <a:ext cx="4942579"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PERFORMING UNDER PRESSURE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Reframe nervous as excited</a:t>
            </a:r>
          </a:p>
        </p:txBody>
      </p:sp>
      <p:sp>
        <p:nvSpPr>
          <p:cNvPr id="4" name="TextBox 3"/>
          <p:cNvSpPr txBox="1"/>
          <p:nvPr/>
        </p:nvSpPr>
        <p:spPr>
          <a:xfrm>
            <a:off x="822960" y="196596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The body's signals for nervousness and excitement are almost physiologically identical — racing heart, tension, anticipation. The only difference is the label you give it.</a:t>
            </a:r>
          </a:p>
        </p:txBody>
      </p:sp>
      <p:sp>
        <p:nvSpPr>
          <p:cNvPr id="5" name="Rounded Rectangle 4"/>
          <p:cNvSpPr/>
          <p:nvPr/>
        </p:nvSpPr>
        <p:spPr>
          <a:xfrm>
            <a:off x="822960" y="2834640"/>
            <a:ext cx="5143500" cy="182880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Say it out loud</a:t>
            </a:r>
          </a:p>
          <a:p>
            <a:pPr>
              <a:lnSpc>
                <a:spcPct val="120000"/>
              </a:lnSpc>
              <a:spcBef>
                <a:spcPts val="400"/>
              </a:spcBef>
            </a:pPr>
            <a:r>
              <a:rPr sz="1150" b="0" i="0">
                <a:solidFill>
                  <a:srgbClr val="A79F8B"/>
                </a:solidFill>
                <a:latin typeface="Segoe UI"/>
              </a:rPr>
              <a:t>“What I'm feeling is excitement” — forced at first, automatic with repetition.</a:t>
            </a:r>
          </a:p>
        </p:txBody>
      </p:sp>
      <p:sp>
        <p:nvSpPr>
          <p:cNvPr id="6" name="Rounded Rectangle 5"/>
          <p:cNvSpPr/>
          <p:nvPr/>
        </p:nvSpPr>
        <p:spPr>
          <a:xfrm>
            <a:off x="6195060" y="2834640"/>
            <a:ext cx="5143500" cy="182880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spcBef>
                <a:spcPts val="400"/>
              </a:spcBef>
            </a:pPr>
            <a:r>
              <a:rPr sz="1500" b="1" i="0">
                <a:solidFill>
                  <a:srgbClr val="EDE6D6"/>
                </a:solidFill>
                <a:latin typeface="Georgia"/>
              </a:rPr>
              <a:t>Make it about them</a:t>
            </a:r>
          </a:p>
          <a:p>
            <a:pPr>
              <a:lnSpc>
                <a:spcPct val="120000"/>
              </a:lnSpc>
              <a:spcBef>
                <a:spcPts val="400"/>
              </a:spcBef>
            </a:pPr>
            <a:r>
              <a:rPr sz="1150" b="0" i="0">
                <a:solidFill>
                  <a:srgbClr val="A79F8B"/>
                </a:solidFill>
                <a:latin typeface="Segoe UI"/>
              </a:rPr>
              <a:t>Shift from “how will I perform?” to “who am I here to serve?” Nerves are self-focused; service is other-focused.</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16 / 37</a:t>
            </a:r>
          </a:p>
        </p:txBody>
      </p:sp>
      <p:sp>
        <p:nvSpPr>
          <p:cNvPr id="9" name="Rectangle 8"/>
          <p:cNvSpPr/>
          <p:nvPr/>
        </p:nvSpPr>
        <p:spPr>
          <a:xfrm>
            <a:off x="0" y="0"/>
            <a:ext cx="5272084"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STAYING UNBOTHERED &amp; FOCUSED</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Five pillars</a:t>
            </a:r>
          </a:p>
        </p:txBody>
      </p:sp>
      <p:sp>
        <p:nvSpPr>
          <p:cNvPr id="4" name="TextBox 3"/>
          <p:cNvSpPr txBox="1"/>
          <p:nvPr/>
        </p:nvSpPr>
        <p:spPr>
          <a:xfrm>
            <a:off x="822960" y="1965960"/>
            <a:ext cx="640080" cy="475488"/>
          </a:xfrm>
          <a:prstGeom prst="rect">
            <a:avLst/>
          </a:prstGeom>
          <a:noFill/>
        </p:spPr>
        <p:txBody>
          <a:bodyPr wrap="square" anchor="t" lIns="0" rIns="0" tIns="0" bIns="0">
            <a:spAutoFit/>
          </a:bodyPr>
          <a:lstStyle/>
          <a:p>
            <a:r>
              <a:rPr sz="1600" b="1" i="0">
                <a:solidFill>
                  <a:srgbClr val="C89B3C"/>
                </a:solidFill>
                <a:latin typeface="Segoe UI"/>
              </a:rPr>
              <a:t>01</a:t>
            </a:r>
          </a:p>
        </p:txBody>
      </p:sp>
      <p:sp>
        <p:nvSpPr>
          <p:cNvPr id="5" name="TextBox 4"/>
          <p:cNvSpPr txBox="1"/>
          <p:nvPr/>
        </p:nvSpPr>
        <p:spPr>
          <a:xfrm>
            <a:off x="1508760" y="1965960"/>
            <a:ext cx="9555480" cy="475488"/>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Clarity of purpose </a:t>
            </a:r>
            <a:r>
              <a:rPr sz="1300" b="0" i="0">
                <a:solidFill>
                  <a:srgbClr val="A79F8B"/>
                </a:solidFill>
                <a:latin typeface="Segoe UI"/>
              </a:rPr>
              <a:t>— a “why” strong enough that distractions lose their grip.</a:t>
            </a:r>
          </a:p>
        </p:txBody>
      </p:sp>
      <p:sp>
        <p:nvSpPr>
          <p:cNvPr id="6" name="TextBox 5"/>
          <p:cNvSpPr txBox="1"/>
          <p:nvPr/>
        </p:nvSpPr>
        <p:spPr>
          <a:xfrm>
            <a:off x="822960" y="2441448"/>
            <a:ext cx="640080" cy="475488"/>
          </a:xfrm>
          <a:prstGeom prst="rect">
            <a:avLst/>
          </a:prstGeom>
          <a:noFill/>
        </p:spPr>
        <p:txBody>
          <a:bodyPr wrap="square" anchor="t" lIns="0" rIns="0" tIns="0" bIns="0">
            <a:spAutoFit/>
          </a:bodyPr>
          <a:lstStyle/>
          <a:p>
            <a:r>
              <a:rPr sz="1600" b="1" i="0">
                <a:solidFill>
                  <a:srgbClr val="C89B3C"/>
                </a:solidFill>
                <a:latin typeface="Segoe UI"/>
              </a:rPr>
              <a:t>02</a:t>
            </a:r>
          </a:p>
        </p:txBody>
      </p:sp>
      <p:sp>
        <p:nvSpPr>
          <p:cNvPr id="7" name="TextBox 6"/>
          <p:cNvSpPr txBox="1"/>
          <p:nvPr/>
        </p:nvSpPr>
        <p:spPr>
          <a:xfrm>
            <a:off x="1508760" y="2441448"/>
            <a:ext cx="9555480" cy="475488"/>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Mastering detachment </a:t>
            </a:r>
            <a:r>
              <a:rPr sz="1300" b="0" i="0">
                <a:solidFill>
                  <a:srgbClr val="A79F8B"/>
                </a:solidFill>
                <a:latin typeface="Segoe UI"/>
              </a:rPr>
              <a:t>— “will this matter in a year?”</a:t>
            </a:r>
          </a:p>
        </p:txBody>
      </p:sp>
      <p:sp>
        <p:nvSpPr>
          <p:cNvPr id="8" name="TextBox 7"/>
          <p:cNvSpPr txBox="1"/>
          <p:nvPr/>
        </p:nvSpPr>
        <p:spPr>
          <a:xfrm>
            <a:off x="822960" y="2916936"/>
            <a:ext cx="640080" cy="475488"/>
          </a:xfrm>
          <a:prstGeom prst="rect">
            <a:avLst/>
          </a:prstGeom>
          <a:noFill/>
        </p:spPr>
        <p:txBody>
          <a:bodyPr wrap="square" anchor="t" lIns="0" rIns="0" tIns="0" bIns="0">
            <a:spAutoFit/>
          </a:bodyPr>
          <a:lstStyle/>
          <a:p>
            <a:r>
              <a:rPr sz="1600" b="1" i="0">
                <a:solidFill>
                  <a:srgbClr val="C89B3C"/>
                </a:solidFill>
                <a:latin typeface="Segoe UI"/>
              </a:rPr>
              <a:t>03</a:t>
            </a:r>
          </a:p>
        </p:txBody>
      </p:sp>
      <p:sp>
        <p:nvSpPr>
          <p:cNvPr id="9" name="TextBox 8"/>
          <p:cNvSpPr txBox="1"/>
          <p:nvPr/>
        </p:nvSpPr>
        <p:spPr>
          <a:xfrm>
            <a:off x="1508760" y="2916936"/>
            <a:ext cx="9555480" cy="475488"/>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Let go of the uncontrollable </a:t>
            </a:r>
            <a:r>
              <a:rPr sz="1300" b="0" i="0">
                <a:solidFill>
                  <a:srgbClr val="A79F8B"/>
                </a:solidFill>
                <a:latin typeface="Segoe UI"/>
              </a:rPr>
              <a:t>— drop the heavy bag, run your own race.</a:t>
            </a:r>
          </a:p>
        </p:txBody>
      </p:sp>
      <p:sp>
        <p:nvSpPr>
          <p:cNvPr id="10" name="TextBox 9"/>
          <p:cNvSpPr txBox="1"/>
          <p:nvPr/>
        </p:nvSpPr>
        <p:spPr>
          <a:xfrm>
            <a:off x="822960" y="3392424"/>
            <a:ext cx="640080" cy="475488"/>
          </a:xfrm>
          <a:prstGeom prst="rect">
            <a:avLst/>
          </a:prstGeom>
          <a:noFill/>
        </p:spPr>
        <p:txBody>
          <a:bodyPr wrap="square" anchor="t" lIns="0" rIns="0" tIns="0" bIns="0">
            <a:spAutoFit/>
          </a:bodyPr>
          <a:lstStyle/>
          <a:p>
            <a:r>
              <a:rPr sz="1600" b="1" i="0">
                <a:solidFill>
                  <a:srgbClr val="C89B3C"/>
                </a:solidFill>
                <a:latin typeface="Segoe UI"/>
              </a:rPr>
              <a:t>04</a:t>
            </a:r>
          </a:p>
        </p:txBody>
      </p:sp>
      <p:sp>
        <p:nvSpPr>
          <p:cNvPr id="11" name="TextBox 10"/>
          <p:cNvSpPr txBox="1"/>
          <p:nvPr/>
        </p:nvSpPr>
        <p:spPr>
          <a:xfrm>
            <a:off x="1508760" y="3392424"/>
            <a:ext cx="9555480" cy="475488"/>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Systems over willpower </a:t>
            </a:r>
            <a:r>
              <a:rPr sz="1300" b="0" i="0">
                <a:solidFill>
                  <a:srgbClr val="A79F8B"/>
                </a:solidFill>
                <a:latin typeface="Segoe UI"/>
              </a:rPr>
              <a:t>— consistency beats intensity.</a:t>
            </a:r>
          </a:p>
        </p:txBody>
      </p:sp>
      <p:sp>
        <p:nvSpPr>
          <p:cNvPr id="12" name="TextBox 11"/>
          <p:cNvSpPr txBox="1"/>
          <p:nvPr/>
        </p:nvSpPr>
        <p:spPr>
          <a:xfrm>
            <a:off x="822960" y="3867912"/>
            <a:ext cx="640080" cy="475488"/>
          </a:xfrm>
          <a:prstGeom prst="rect">
            <a:avLst/>
          </a:prstGeom>
          <a:noFill/>
        </p:spPr>
        <p:txBody>
          <a:bodyPr wrap="square" anchor="t" lIns="0" rIns="0" tIns="0" bIns="0">
            <a:spAutoFit/>
          </a:bodyPr>
          <a:lstStyle/>
          <a:p>
            <a:r>
              <a:rPr sz="1600" b="1" i="0">
                <a:solidFill>
                  <a:srgbClr val="C89B3C"/>
                </a:solidFill>
                <a:latin typeface="Segoe UI"/>
              </a:rPr>
              <a:t>05</a:t>
            </a:r>
          </a:p>
        </p:txBody>
      </p:sp>
      <p:sp>
        <p:nvSpPr>
          <p:cNvPr id="13" name="TextBox 12"/>
          <p:cNvSpPr txBox="1"/>
          <p:nvPr/>
        </p:nvSpPr>
        <p:spPr>
          <a:xfrm>
            <a:off x="1508760" y="3867912"/>
            <a:ext cx="9555480" cy="475488"/>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Protect your mental space </a:t>
            </a:r>
            <a:r>
              <a:rPr sz="1300" b="0" i="0">
                <a:solidFill>
                  <a:srgbClr val="A79F8B"/>
                </a:solidFill>
                <a:latin typeface="Segoe UI"/>
              </a:rPr>
              <a:t>— your mind is a garden; curate what grows there.</a:t>
            </a:r>
          </a:p>
        </p:txBody>
      </p:sp>
      <p:sp>
        <p:nvSpPr>
          <p:cNvPr id="14" name="TextBox 13"/>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15" name="TextBox 14"/>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17 / 37</a:t>
            </a:r>
          </a:p>
        </p:txBody>
      </p:sp>
      <p:sp>
        <p:nvSpPr>
          <p:cNvPr id="16" name="Rectangle 15"/>
          <p:cNvSpPr/>
          <p:nvPr/>
        </p:nvSpPr>
        <p:spPr>
          <a:xfrm>
            <a:off x="0" y="0"/>
            <a:ext cx="5601589"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REACTIVE VS. REFLECTIVE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Be the last to speak, not the first to react</a:t>
            </a:r>
          </a:p>
        </p:txBody>
      </p:sp>
      <p:sp>
        <p:nvSpPr>
          <p:cNvPr id="4" name="TextBox 3"/>
          <p:cNvSpPr txBox="1"/>
          <p:nvPr/>
        </p:nvSpPr>
        <p:spPr>
          <a:xfrm>
            <a:off x="822960" y="1965960"/>
            <a:ext cx="3291840" cy="1554480"/>
          </a:xfrm>
          <a:prstGeom prst="rect">
            <a:avLst/>
          </a:prstGeom>
          <a:noFill/>
        </p:spPr>
        <p:txBody>
          <a:bodyPr wrap="square" anchor="b" lIns="0" rIns="0" tIns="0" bIns="0">
            <a:spAutoFit/>
          </a:bodyPr>
          <a:lstStyle/>
          <a:p>
            <a:r>
              <a:rPr sz="8600" b="1" i="0">
                <a:solidFill>
                  <a:srgbClr val="C89B3C"/>
                </a:solidFill>
                <a:latin typeface="Segoe UI"/>
              </a:rPr>
              <a:t>3s</a:t>
            </a:r>
          </a:p>
        </p:txBody>
      </p:sp>
      <p:sp>
        <p:nvSpPr>
          <p:cNvPr id="5" name="TextBox 4"/>
          <p:cNvSpPr txBox="1"/>
          <p:nvPr/>
        </p:nvSpPr>
        <p:spPr>
          <a:xfrm>
            <a:off x="4389120" y="2514600"/>
            <a:ext cx="6675120" cy="1280160"/>
          </a:xfrm>
          <a:prstGeom prst="rect">
            <a:avLst/>
          </a:prstGeom>
          <a:noFill/>
        </p:spPr>
        <p:txBody>
          <a:bodyPr wrap="square" anchor="b" lIns="0" rIns="0" tIns="0" bIns="0">
            <a:spAutoFit/>
          </a:bodyPr>
          <a:lstStyle/>
          <a:p>
            <a:r>
              <a:rPr sz="1200" b="0" i="0" spc="90">
                <a:solidFill>
                  <a:srgbClr val="A79F8B"/>
                </a:solidFill>
                <a:latin typeface="Segoe UI"/>
              </a:rPr>
              <a:t>THE PAUSE THAT CHANGES EVERYTHING</a:t>
            </a:r>
          </a:p>
          <a:p>
            <a:pPr>
              <a:lnSpc>
                <a:spcPct val="125000"/>
              </a:lnSpc>
              <a:spcBef>
                <a:spcPts val="400"/>
              </a:spcBef>
            </a:pPr>
            <a:r>
              <a:rPr sz="1450" b="0" i="0">
                <a:solidFill>
                  <a:srgbClr val="EDE6D6"/>
                </a:solidFill>
                <a:latin typeface="Segoe UI"/>
              </a:rPr>
              <a:t>Before responding to a mistake, pause and check your own emotional state. That gap is the difference between reacting from emotion and responding with intent.</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350" b="0" i="0">
                <a:solidFill>
                  <a:srgbClr val="A79F8B"/>
                </a:solidFill>
                <a:latin typeface="Segoe UI"/>
              </a:rPr>
              <a:t>Normalize “let me think about that and come back to you” as a strong answer, not a weak one.</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18 / 37</a:t>
            </a:r>
          </a:p>
        </p:txBody>
      </p:sp>
      <p:sp>
        <p:nvSpPr>
          <p:cNvPr id="9" name="Rectangle 8"/>
          <p:cNvSpPr/>
          <p:nvPr/>
        </p:nvSpPr>
        <p:spPr>
          <a:xfrm>
            <a:off x="0" y="0"/>
            <a:ext cx="5931094"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HABITS WORTH IMPARTING</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What Sinek asks of a team</a:t>
            </a:r>
          </a:p>
        </p:txBody>
      </p:sp>
      <p:sp>
        <p:nvSpPr>
          <p:cNvPr id="4" name="TextBox 3"/>
          <p:cNvSpPr txBox="1"/>
          <p:nvPr/>
        </p:nvSpPr>
        <p:spPr>
          <a:xfrm>
            <a:off x="822960" y="1965960"/>
            <a:ext cx="365760" cy="530352"/>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5" name="TextBox 4"/>
          <p:cNvSpPr txBox="1"/>
          <p:nvPr/>
        </p:nvSpPr>
        <p:spPr>
          <a:xfrm>
            <a:off x="1234440" y="1965960"/>
            <a:ext cx="9829800" cy="530352"/>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Inspiration over manipulation </a:t>
            </a:r>
            <a:r>
              <a:rPr sz="1400" b="0" i="0">
                <a:solidFill>
                  <a:srgbClr val="A79F8B"/>
                </a:solidFill>
                <a:latin typeface="Segoe UI"/>
              </a:rPr>
              <a:t>— motivate with purpose, never fear.</a:t>
            </a:r>
          </a:p>
        </p:txBody>
      </p:sp>
      <p:sp>
        <p:nvSpPr>
          <p:cNvPr id="6" name="TextBox 5"/>
          <p:cNvSpPr txBox="1"/>
          <p:nvPr/>
        </p:nvSpPr>
        <p:spPr>
          <a:xfrm>
            <a:off x="822960" y="2496312"/>
            <a:ext cx="365760" cy="530352"/>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7" name="TextBox 6"/>
          <p:cNvSpPr txBox="1"/>
          <p:nvPr/>
        </p:nvSpPr>
        <p:spPr>
          <a:xfrm>
            <a:off x="1234440" y="2496312"/>
            <a:ext cx="9829800" cy="530352"/>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Curiosity over judgment </a:t>
            </a:r>
            <a:r>
              <a:rPr sz="1400" b="0" i="0">
                <a:solidFill>
                  <a:srgbClr val="A79F8B"/>
                </a:solidFill>
                <a:latin typeface="Segoe UI"/>
              </a:rPr>
              <a:t>— ask questions before drawing conclusions.</a:t>
            </a:r>
          </a:p>
        </p:txBody>
      </p:sp>
      <p:sp>
        <p:nvSpPr>
          <p:cNvPr id="8" name="TextBox 7"/>
          <p:cNvSpPr txBox="1"/>
          <p:nvPr/>
        </p:nvSpPr>
        <p:spPr>
          <a:xfrm>
            <a:off x="822960" y="3026664"/>
            <a:ext cx="365760" cy="530352"/>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9" name="TextBox 8"/>
          <p:cNvSpPr txBox="1"/>
          <p:nvPr/>
        </p:nvSpPr>
        <p:spPr>
          <a:xfrm>
            <a:off x="1234440" y="3026664"/>
            <a:ext cx="9829800" cy="530352"/>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Vulnerability builds trust </a:t>
            </a:r>
            <a:r>
              <a:rPr sz="1400" b="0" i="0">
                <a:solidFill>
                  <a:srgbClr val="A79F8B"/>
                </a:solidFill>
                <a:latin typeface="Segoe UI"/>
              </a:rPr>
              <a:t>— admitting mistakes makes a leader more credible.</a:t>
            </a:r>
          </a:p>
        </p:txBody>
      </p:sp>
      <p:sp>
        <p:nvSpPr>
          <p:cNvPr id="10" name="TextBox 9"/>
          <p:cNvSpPr txBox="1"/>
          <p:nvPr/>
        </p:nvSpPr>
        <p:spPr>
          <a:xfrm>
            <a:off x="822960" y="3557016"/>
            <a:ext cx="365760" cy="530352"/>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1" name="TextBox 10"/>
          <p:cNvSpPr txBox="1"/>
          <p:nvPr/>
        </p:nvSpPr>
        <p:spPr>
          <a:xfrm>
            <a:off x="1234440" y="3557016"/>
            <a:ext cx="9829800" cy="530352"/>
          </a:xfrm>
          <a:prstGeom prst="rect">
            <a:avLst/>
          </a:prstGeom>
          <a:noFill/>
        </p:spPr>
        <p:txBody>
          <a:bodyPr wrap="square" anchor="t" lIns="0" rIns="0" tIns="0" bIns="0">
            <a:spAutoFit/>
          </a:bodyPr>
          <a:lstStyle/>
          <a:p>
            <a:pPr>
              <a:lnSpc>
                <a:spcPct val="115000"/>
              </a:lnSpc>
            </a:pPr>
            <a:r>
              <a:rPr sz="1400" b="1" i="0">
                <a:solidFill>
                  <a:srgbClr val="EDE6D6"/>
                </a:solidFill>
                <a:latin typeface="Segoe UI"/>
              </a:rPr>
              <a:t>Empathy first </a:t>
            </a:r>
            <a:r>
              <a:rPr sz="1400" b="0" i="0">
                <a:solidFill>
                  <a:srgbClr val="A79F8B"/>
                </a:solidFill>
                <a:latin typeface="Segoe UI"/>
              </a:rPr>
              <a:t>— “are you okay?” before “where are the numbers?”</a:t>
            </a:r>
          </a:p>
        </p:txBody>
      </p:sp>
      <p:sp>
        <p:nvSpPr>
          <p:cNvPr id="12" name="TextBox 11"/>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III · SIMON SINEK</a:t>
            </a:r>
          </a:p>
        </p:txBody>
      </p:sp>
      <p:sp>
        <p:nvSpPr>
          <p:cNvPr id="13" name="TextBox 12"/>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19 / 37</a:t>
            </a:r>
          </a:p>
        </p:txBody>
      </p:sp>
      <p:sp>
        <p:nvSpPr>
          <p:cNvPr id="14" name="Rectangle 13"/>
          <p:cNvSpPr/>
          <p:nvPr/>
        </p:nvSpPr>
        <p:spPr>
          <a:xfrm>
            <a:off x="0" y="0"/>
            <a:ext cx="6260600"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IV</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FOUR</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Lessons from World-Class CEOs</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Eight leaders. Eight one-line philosophies you can hand straight to your team.</a:t>
            </a:r>
          </a:p>
        </p:txBody>
      </p:sp>
      <p:sp>
        <p:nvSpPr>
          <p:cNvPr id="6" name="TextBox 5"/>
          <p:cNvSpPr txBox="1"/>
          <p:nvPr/>
        </p:nvSpPr>
        <p:spPr>
          <a:xfrm>
            <a:off x="3931920" y="4206240"/>
            <a:ext cx="3657600" cy="731520"/>
          </a:xfrm>
          <a:prstGeom prst="rect">
            <a:avLst/>
          </a:prstGeom>
          <a:noFill/>
        </p:spPr>
        <p:txBody>
          <a:bodyPr wrap="square" anchor="t" lIns="0" rIns="0" tIns="0" bIns="0">
            <a:spAutoFit/>
          </a:bodyPr>
          <a:lstStyle/>
          <a:p>
            <a:r>
              <a:rPr sz="3400" b="1" i="0">
                <a:solidFill>
                  <a:srgbClr val="C89B3C"/>
                </a:solidFill>
                <a:latin typeface="Segoe UI"/>
              </a:rPr>
              <a:t>8  </a:t>
            </a:r>
            <a:r>
              <a:rPr sz="1300" b="0" i="0">
                <a:solidFill>
                  <a:srgbClr val="A79F8B"/>
                </a:solidFill>
                <a:latin typeface="Segoe UI"/>
              </a:rPr>
              <a:t>CEOs, this chapter</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20 / 37</a:t>
            </a:r>
          </a:p>
        </p:txBody>
      </p:sp>
      <p:sp>
        <p:nvSpPr>
          <p:cNvPr id="9" name="Rectangle 8"/>
          <p:cNvSpPr/>
          <p:nvPr/>
        </p:nvSpPr>
        <p:spPr>
          <a:xfrm>
            <a:off x="0" y="0"/>
            <a:ext cx="6590105"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01 · AMD</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Lisa Su   </a:t>
            </a:r>
            <a:r>
              <a:rPr sz="1500" b="0" i="1">
                <a:solidFill>
                  <a:srgbClr val="A79F8B"/>
                </a:solidFill>
                <a:latin typeface="Segoe UI"/>
              </a:rPr>
              <a:t>run towards the hardest problems</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Run towards the hardest problems.</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Told to a young IBM engineer by executive John Kelly — it led her to take over a near-collapsing AMD in 2014 and turn it into an AI chip powerhouse. Hard problems have vacancies; easy ones have queues.</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21 / 37</a:t>
            </a:r>
          </a:p>
        </p:txBody>
      </p:sp>
      <p:sp>
        <p:nvSpPr>
          <p:cNvPr id="9" name="Rectangle 8"/>
          <p:cNvSpPr/>
          <p:nvPr/>
        </p:nvSpPr>
        <p:spPr>
          <a:xfrm>
            <a:off x="0" y="0"/>
            <a:ext cx="6919610"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02 · NVIDIA</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Jensen Huang   </a:t>
            </a:r>
            <a:r>
              <a:rPr sz="1500" b="0" i="1">
                <a:solidFill>
                  <a:srgbClr val="A79F8B"/>
                </a:solidFill>
                <a:latin typeface="Segoe UI"/>
              </a:rPr>
              <a:t>greatness comes from struggle</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I wish upon you ample doses of pain and suffering.</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Not cruelty — his point: greatness comes from character, and character is formed by people who suffered. “One of my great advantages is that I have very low expectations.” He hires for grit over pedigree.</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22 / 37</a:t>
            </a:r>
          </a:p>
        </p:txBody>
      </p:sp>
      <p:sp>
        <p:nvSpPr>
          <p:cNvPr id="9" name="Rectangle 8"/>
          <p:cNvSpPr/>
          <p:nvPr/>
        </p:nvSpPr>
        <p:spPr>
          <a:xfrm>
            <a:off x="0" y="0"/>
            <a:ext cx="7249115"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03 · TESLA / SPACEX</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Elon Musk   </a:t>
            </a:r>
            <a:r>
              <a:rPr sz="1500" b="0" i="1">
                <a:solidFill>
                  <a:srgbClr val="A79F8B"/>
                </a:solidFill>
                <a:latin typeface="Segoe UI"/>
              </a:rPr>
              <a:t>lead from the front</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Never ask your team to do something you aren't willing to do.</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Credibility with engineers came from sleeping on the factory floor during Tesla's “production hell.” “Failure is an option here. If things are not failing, you are not innovating enough.”</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23 / 37</a:t>
            </a:r>
          </a:p>
        </p:txBody>
      </p:sp>
      <p:sp>
        <p:nvSpPr>
          <p:cNvPr id="9" name="Rectangle 8"/>
          <p:cNvSpPr/>
          <p:nvPr/>
        </p:nvSpPr>
        <p:spPr>
          <a:xfrm>
            <a:off x="0" y="0"/>
            <a:ext cx="7578621"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04 · MICROSOFT</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Satya Nadella   </a:t>
            </a:r>
            <a:r>
              <a:rPr sz="1500" b="0" i="1">
                <a:solidFill>
                  <a:srgbClr val="A79F8B"/>
                </a:solidFill>
                <a:latin typeface="Segoe UI"/>
              </a:rPr>
              <a:t>the learn-it-all</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Don't be a know-it-all; be a learn-it-all.</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“Empathy makes you a better innovator” — learned caring for his son, who had cerebral palsy. Praise questions as much as answers; a team that admits “I don't know, but I'll find out” will out-learn a team of know-it-alls.</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24 / 37</a:t>
            </a:r>
          </a:p>
        </p:txBody>
      </p:sp>
      <p:sp>
        <p:nvSpPr>
          <p:cNvPr id="9" name="Rectangle 8"/>
          <p:cNvSpPr/>
          <p:nvPr/>
        </p:nvSpPr>
        <p:spPr>
          <a:xfrm>
            <a:off x="0" y="0"/>
            <a:ext cx="7908126"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05 · INTEL</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Lip-Bu Tan   </a:t>
            </a:r>
            <a:r>
              <a:rPr sz="1500" b="0" i="1">
                <a:solidFill>
                  <a:srgbClr val="A79F8B"/>
                </a:solidFill>
                <a:latin typeface="Segoe UI"/>
              </a:rPr>
              <a:t>stay humble, delight customers</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Stay humble. Work hard. Delight our customers.</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At Cadence he asked a major customer to grade his products, got failing marks, and used the critique to drive a decade-long transformation. His personal motto: under promise, over deliver.</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25 / 37</a:t>
            </a:r>
          </a:p>
        </p:txBody>
      </p:sp>
      <p:sp>
        <p:nvSpPr>
          <p:cNvPr id="9" name="Rectangle 8"/>
          <p:cNvSpPr/>
          <p:nvPr/>
        </p:nvSpPr>
        <p:spPr>
          <a:xfrm>
            <a:off x="0" y="0"/>
            <a:ext cx="8237631"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06 · META</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Mark Zuckerberg   </a:t>
            </a:r>
            <a:r>
              <a:rPr sz="1500" b="0" i="1">
                <a:solidFill>
                  <a:srgbClr val="A79F8B"/>
                </a:solidFill>
                <a:latin typeface="Segoe UI"/>
              </a:rPr>
              <a:t>speed and risk</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The biggest risk is not taking any risk.</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“You're better off trying something and having it not work, than having not done anything at all.” He publicly owns his mistakes — giving the whole team permission to take swings.</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26 / 37</a:t>
            </a:r>
          </a:p>
        </p:txBody>
      </p:sp>
      <p:sp>
        <p:nvSpPr>
          <p:cNvPr id="9" name="Rectangle 8"/>
          <p:cNvSpPr/>
          <p:nvPr/>
        </p:nvSpPr>
        <p:spPr>
          <a:xfrm>
            <a:off x="0" y="0"/>
            <a:ext cx="8567137"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07 · JPMORGAN</a:t>
            </a:r>
          </a:p>
        </p:txBody>
      </p:sp>
      <p:sp>
        <p:nvSpPr>
          <p:cNvPr id="3" name="TextBox 2"/>
          <p:cNvSpPr txBox="1"/>
          <p:nvPr/>
        </p:nvSpPr>
        <p:spPr>
          <a:xfrm>
            <a:off x="822960" y="1005840"/>
            <a:ext cx="9692640" cy="822960"/>
          </a:xfrm>
          <a:prstGeom prst="rect">
            <a:avLst/>
          </a:prstGeom>
          <a:noFill/>
        </p:spPr>
        <p:txBody>
          <a:bodyPr wrap="square" anchor="t" lIns="0" rIns="0" tIns="0" bIns="0">
            <a:spAutoFit/>
          </a:bodyPr>
          <a:lstStyle/>
          <a:p>
            <a:r>
              <a:rPr sz="3000" b="0" i="0">
                <a:solidFill>
                  <a:srgbClr val="EDE6D6"/>
                </a:solidFill>
                <a:latin typeface="Georgia"/>
              </a:rPr>
              <a:t>Jamie Dimon   </a:t>
            </a:r>
            <a:r>
              <a:rPr sz="1500" b="0" i="1">
                <a:solidFill>
                  <a:srgbClr val="A79F8B"/>
                </a:solidFill>
                <a:latin typeface="Segoe UI"/>
              </a:rPr>
              <a:t>truth, heart, decisiveness</a:t>
            </a:r>
          </a:p>
        </p:txBody>
      </p:sp>
      <p:sp>
        <p:nvSpPr>
          <p:cNvPr id="4" name="TextBox 3"/>
          <p:cNvSpPr txBox="1"/>
          <p:nvPr/>
        </p:nvSpPr>
        <p:spPr>
          <a:xfrm>
            <a:off x="822960" y="15087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214884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Don't put a good foot forward — put the truth forward, 100% the truth.</a:t>
            </a:r>
          </a:p>
        </p:txBody>
      </p:sp>
      <p:sp>
        <p:nvSpPr>
          <p:cNvPr id="6" name="TextBox 5"/>
          <p:cNvSpPr txBox="1"/>
          <p:nvPr/>
        </p:nvSpPr>
        <p:spPr>
          <a:xfrm>
            <a:off x="822960" y="3931920"/>
            <a:ext cx="9692640" cy="1463040"/>
          </a:xfrm>
          <a:prstGeom prst="rect">
            <a:avLst/>
          </a:prstGeom>
          <a:noFill/>
        </p:spPr>
        <p:txBody>
          <a:bodyPr wrap="square" anchor="t" lIns="0" rIns="0" tIns="0" bIns="0">
            <a:spAutoFit/>
          </a:bodyPr>
          <a:lstStyle/>
          <a:p>
            <a:pPr>
              <a:lnSpc>
                <a:spcPct val="130000"/>
              </a:lnSpc>
            </a:pPr>
            <a:r>
              <a:rPr sz="1450" b="0" i="0">
                <a:solidFill>
                  <a:srgbClr val="A79F8B"/>
                </a:solidFill>
                <a:latin typeface="Segoe UI"/>
              </a:rPr>
              <a:t>“People don't want to work for jerks.” Decisiveness is how JPMorgan moved on Bear Stearns and Washington Mutual during 2008 while others froze. Get out of the office — leadership by walking around, not by dashboard.</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27 / 37</a:t>
            </a:r>
          </a:p>
        </p:txBody>
      </p:sp>
      <p:sp>
        <p:nvSpPr>
          <p:cNvPr id="9" name="Rectangle 8"/>
          <p:cNvSpPr/>
          <p:nvPr/>
        </p:nvSpPr>
        <p:spPr>
          <a:xfrm>
            <a:off x="0" y="0"/>
            <a:ext cx="8896642"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08 · ALEX HORMOZI</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Finite vs. infinite games</a:t>
            </a:r>
          </a:p>
        </p:txBody>
      </p:sp>
      <p:sp>
        <p:nvSpPr>
          <p:cNvPr id="4" name="TextBox 3"/>
          <p:cNvSpPr txBox="1"/>
          <p:nvPr/>
        </p:nvSpPr>
        <p:spPr>
          <a:xfrm>
            <a:off x="822960" y="132588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5" name="TextBox 4"/>
          <p:cNvSpPr txBox="1"/>
          <p:nvPr/>
        </p:nvSpPr>
        <p:spPr>
          <a:xfrm>
            <a:off x="822960" y="1965960"/>
            <a:ext cx="9875520" cy="2194560"/>
          </a:xfrm>
          <a:prstGeom prst="rect">
            <a:avLst/>
          </a:prstGeom>
          <a:noFill/>
        </p:spPr>
        <p:txBody>
          <a:bodyPr wrap="square" anchor="t" lIns="0" rIns="0" tIns="0" bIns="0">
            <a:spAutoFit/>
          </a:bodyPr>
          <a:lstStyle/>
          <a:p>
            <a:pPr>
              <a:lnSpc>
                <a:spcPct val="125000"/>
              </a:lnSpc>
            </a:pPr>
            <a:r>
              <a:rPr sz="1800" b="0" i="1">
                <a:solidFill>
                  <a:srgbClr val="EDE6D6"/>
                </a:solidFill>
                <a:latin typeface="Georgia"/>
              </a:rPr>
              <a:t>Most people lose because they play infinite games with a finite perspective.</a:t>
            </a:r>
          </a:p>
        </p:txBody>
      </p:sp>
      <p:sp>
        <p:nvSpPr>
          <p:cNvPr id="6" name="Rounded Rectangle 5"/>
          <p:cNvSpPr/>
          <p:nvPr/>
        </p:nvSpPr>
        <p:spPr>
          <a:xfrm>
            <a:off x="822960" y="3383280"/>
            <a:ext cx="5120640" cy="2926080"/>
          </a:xfrm>
          <a:prstGeom prst="roundRect">
            <a:avLst>
              <a:gd name="adj" fmla="val 30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19456" bIns="219456"/>
          <a:lstStyle/>
          <a:p>
            <a:pPr algn="ctr"/>
            <a:r>
              <a:rPr sz="1200" b="1" i="0" spc="90">
                <a:solidFill>
                  <a:srgbClr val="A79F8B"/>
                </a:solidFill>
                <a:latin typeface="Segoe UI"/>
              </a:rPr>
              <a:t>FINITE (A ROUND)</a:t>
            </a:r>
          </a:p>
          <a:p>
            <a:pPr>
              <a:spcBef>
                <a:spcPts val="1000"/>
              </a:spcBef>
            </a:pPr>
            <a:r>
              <a:rPr sz="1300" b="0" i="0">
                <a:solidFill>
                  <a:srgbClr val="EDE6D6"/>
                </a:solidFill>
                <a:latin typeface="Segoe UI"/>
              </a:rPr>
              <a:t>•  This quarter's KPI</a:t>
            </a:r>
          </a:p>
          <a:p>
            <a:pPr>
              <a:spcBef>
                <a:spcPts val="1000"/>
              </a:spcBef>
            </a:pPr>
            <a:r>
              <a:rPr sz="1300" b="0" i="0">
                <a:solidFill>
                  <a:srgbClr val="EDE6D6"/>
                </a:solidFill>
                <a:latin typeface="Segoe UI"/>
              </a:rPr>
              <a:t>•  The promotion cycle</a:t>
            </a:r>
          </a:p>
          <a:p>
            <a:pPr>
              <a:spcBef>
                <a:spcPts val="1000"/>
              </a:spcBef>
            </a:pPr>
            <a:r>
              <a:rPr sz="1300" b="0" i="0">
                <a:solidFill>
                  <a:srgbClr val="EDE6D6"/>
                </a:solidFill>
                <a:latin typeface="Segoe UI"/>
              </a:rPr>
              <a:t>•  Winning this meeting</a:t>
            </a:r>
          </a:p>
        </p:txBody>
      </p:sp>
      <p:sp>
        <p:nvSpPr>
          <p:cNvPr id="7" name="Rounded Rectangle 6"/>
          <p:cNvSpPr/>
          <p:nvPr/>
        </p:nvSpPr>
        <p:spPr>
          <a:xfrm>
            <a:off x="6172200" y="3383280"/>
            <a:ext cx="5120640" cy="2926080"/>
          </a:xfrm>
          <a:prstGeom prst="roundRect">
            <a:avLst>
              <a:gd name="adj" fmla="val 3000"/>
            </a:avLst>
          </a:prstGeom>
          <a:solidFill>
            <a:srgbClr val="16202C"/>
          </a:solidFill>
          <a:ln w="1524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19456" bIns="219456"/>
          <a:lstStyle/>
          <a:p>
            <a:pPr algn="ctr"/>
            <a:r>
              <a:rPr sz="1200" b="1" i="0" spc="90">
                <a:solidFill>
                  <a:srgbClr val="C89B3C"/>
                </a:solidFill>
                <a:latin typeface="Segoe UI"/>
              </a:rPr>
              <a:t>INFINITE (THE REAL GAME)</a:t>
            </a:r>
          </a:p>
          <a:p>
            <a:pPr>
              <a:spcBef>
                <a:spcPts val="1000"/>
              </a:spcBef>
            </a:pPr>
            <a:r>
              <a:rPr sz="1300" b="0" i="0">
                <a:solidFill>
                  <a:srgbClr val="EDE6D6"/>
                </a:solidFill>
                <a:latin typeface="Segoe UI"/>
              </a:rPr>
              <a:t>•  Staying competitive for decades</a:t>
            </a:r>
          </a:p>
          <a:p>
            <a:pPr>
              <a:spcBef>
                <a:spcPts val="1000"/>
              </a:spcBef>
            </a:pPr>
            <a:r>
              <a:rPr sz="1300" b="0" i="0">
                <a:solidFill>
                  <a:srgbClr val="EDE6D6"/>
                </a:solidFill>
                <a:latin typeface="Segoe UI"/>
              </a:rPr>
              <a:t>•  Your career, over 30 years</a:t>
            </a:r>
          </a:p>
          <a:p>
            <a:pPr>
              <a:spcBef>
                <a:spcPts val="1000"/>
              </a:spcBef>
            </a:pPr>
            <a:r>
              <a:rPr sz="1300" b="0" i="0">
                <a:solidFill>
                  <a:srgbClr val="EDE6D6"/>
                </a:solidFill>
                <a:latin typeface="Segoe UI"/>
              </a:rPr>
              <a:t>•  The stakeholder relationship you'll need for years</a:t>
            </a:r>
          </a:p>
        </p:txBody>
      </p:sp>
      <p:sp>
        <p:nvSpPr>
          <p:cNvPr id="8" name="TextBox 7"/>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9" name="TextBox 8"/>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28 / 37</a:t>
            </a:r>
          </a:p>
        </p:txBody>
      </p:sp>
      <p:sp>
        <p:nvSpPr>
          <p:cNvPr id="10" name="Rectangle 9"/>
          <p:cNvSpPr/>
          <p:nvPr/>
        </p:nvSpPr>
        <p:spPr>
          <a:xfrm>
            <a:off x="0" y="0"/>
            <a:ext cx="9226147"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WORTHY RIVALS</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The only true competitor is yourself</a:t>
            </a:r>
          </a:p>
        </p:txBody>
      </p:sp>
      <p:sp>
        <p:nvSpPr>
          <p:cNvPr id="4" name="TextBox 3"/>
          <p:cNvSpPr txBox="1"/>
          <p:nvPr/>
        </p:nvSpPr>
        <p:spPr>
          <a:xfrm>
            <a:off x="822960" y="1965960"/>
            <a:ext cx="9692640" cy="1463040"/>
          </a:xfrm>
          <a:prstGeom prst="rect">
            <a:avLst/>
          </a:prstGeom>
          <a:noFill/>
        </p:spPr>
        <p:txBody>
          <a:bodyPr wrap="square" anchor="t" lIns="0" rIns="0" tIns="0" bIns="0">
            <a:spAutoFit/>
          </a:bodyPr>
          <a:lstStyle/>
          <a:p>
            <a:pPr>
              <a:lnSpc>
                <a:spcPct val="130000"/>
              </a:lnSpc>
            </a:pPr>
            <a:r>
              <a:rPr sz="1400" b="0" i="0">
                <a:solidFill>
                  <a:srgbClr val="A79F8B"/>
                </a:solidFill>
                <a:latin typeface="Segoe UI"/>
              </a:rPr>
              <a:t>Chasing “the win” leaves you lost the day after you get it. Players don't lose infinite games because a competitor won — they lose because they ran out of will or resources. They self-implode.</a:t>
            </a:r>
          </a:p>
        </p:txBody>
      </p:sp>
      <p:sp>
        <p:nvSpPr>
          <p:cNvPr id="5" name="TextBox 4"/>
          <p:cNvSpPr txBox="1"/>
          <p:nvPr/>
        </p:nvSpPr>
        <p:spPr>
          <a:xfrm>
            <a:off x="822960" y="219456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6" name="TextBox 5"/>
          <p:cNvSpPr txBox="1"/>
          <p:nvPr/>
        </p:nvSpPr>
        <p:spPr>
          <a:xfrm>
            <a:off x="822960" y="2834640"/>
            <a:ext cx="9875520" cy="2194560"/>
          </a:xfrm>
          <a:prstGeom prst="rect">
            <a:avLst/>
          </a:prstGeom>
          <a:noFill/>
        </p:spPr>
        <p:txBody>
          <a:bodyPr wrap="square" anchor="t" lIns="0" rIns="0" tIns="0" bIns="0">
            <a:spAutoFit/>
          </a:bodyPr>
          <a:lstStyle/>
          <a:p>
            <a:pPr>
              <a:lnSpc>
                <a:spcPct val="125000"/>
              </a:lnSpc>
            </a:pPr>
            <a:r>
              <a:rPr sz="2000" b="0" i="1">
                <a:solidFill>
                  <a:srgbClr val="EDE6D6"/>
                </a:solidFill>
                <a:latin typeface="Georgia"/>
              </a:rPr>
              <a:t>The game is to outlast. The game is to keep playing.</a:t>
            </a:r>
          </a:p>
        </p:txBody>
      </p:sp>
      <p:sp>
        <p:nvSpPr>
          <p:cNvPr id="7" name="TextBox 6"/>
          <p:cNvSpPr txBox="1"/>
          <p:nvPr/>
        </p:nvSpPr>
        <p:spPr>
          <a:xfrm>
            <a:off x="822960" y="4297680"/>
            <a:ext cx="9692640" cy="1463040"/>
          </a:xfrm>
          <a:prstGeom prst="rect">
            <a:avLst/>
          </a:prstGeom>
          <a:noFill/>
        </p:spPr>
        <p:txBody>
          <a:bodyPr wrap="square" anchor="t" lIns="0" rIns="0" tIns="0" bIns="0">
            <a:spAutoFit/>
          </a:bodyPr>
          <a:lstStyle/>
          <a:p>
            <a:pPr>
              <a:lnSpc>
                <a:spcPct val="130000"/>
              </a:lnSpc>
            </a:pPr>
            <a:r>
              <a:rPr sz="1400" b="0" i="0">
                <a:solidFill>
                  <a:srgbClr val="A79F8B"/>
                </a:solidFill>
                <a:latin typeface="Segoe UI"/>
              </a:rPr>
              <a:t>The only metric that matters: continuous improvement against your own past performance.</a:t>
            </a:r>
          </a:p>
        </p:txBody>
      </p:sp>
      <p:sp>
        <p:nvSpPr>
          <p:cNvPr id="8" name="TextBox 7"/>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IV · WORLD-CLASS CEOS</a:t>
            </a:r>
          </a:p>
        </p:txBody>
      </p:sp>
      <p:sp>
        <p:nvSpPr>
          <p:cNvPr id="9" name="TextBox 8"/>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29 / 37</a:t>
            </a:r>
          </a:p>
        </p:txBody>
      </p:sp>
      <p:sp>
        <p:nvSpPr>
          <p:cNvPr id="10" name="Rectangle 9"/>
          <p:cNvSpPr/>
          <p:nvPr/>
        </p:nvSpPr>
        <p:spPr>
          <a:xfrm>
            <a:off x="0" y="0"/>
            <a:ext cx="9555652"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V</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FIVE</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Make Your Team Want to Work With You</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People follow leaders who make them feel safe, seen, and stretched.</a:t>
            </a:r>
          </a:p>
        </p:txBody>
      </p:sp>
      <p:sp>
        <p:nvSpPr>
          <p:cNvPr id="6" name="TextBox 5"/>
          <p:cNvSpPr txBox="1"/>
          <p:nvPr/>
        </p:nvSpPr>
        <p:spPr>
          <a:xfrm>
            <a:off x="3931920" y="4206240"/>
            <a:ext cx="3657600" cy="731520"/>
          </a:xfrm>
          <a:prstGeom prst="rect">
            <a:avLst/>
          </a:prstGeom>
          <a:noFill/>
        </p:spPr>
        <p:txBody>
          <a:bodyPr wrap="square" anchor="t" lIns="0" rIns="0" tIns="0" bIns="0">
            <a:spAutoFit/>
          </a:bodyPr>
          <a:lstStyle/>
          <a:p>
            <a:r>
              <a:rPr sz="3400" b="1" i="0">
                <a:solidFill>
                  <a:srgbClr val="C89B3C"/>
                </a:solidFill>
                <a:latin typeface="Segoe UI"/>
              </a:rPr>
              <a:t>7  </a:t>
            </a:r>
            <a:r>
              <a:rPr sz="1300" b="0" i="0">
                <a:solidFill>
                  <a:srgbClr val="A79F8B"/>
                </a:solidFill>
                <a:latin typeface="Segoe UI"/>
              </a:rPr>
              <a:t>practices, this chapter</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 · WHY PEOPLE STAY</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30 / 37</a:t>
            </a:r>
          </a:p>
        </p:txBody>
      </p:sp>
      <p:sp>
        <p:nvSpPr>
          <p:cNvPr id="9" name="Rectangle 8"/>
          <p:cNvSpPr/>
          <p:nvPr/>
        </p:nvSpPr>
        <p:spPr>
          <a:xfrm>
            <a:off x="0" y="0"/>
            <a:ext cx="9885158"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IN PRACTICE</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Seven ways to earn loyalty</a:t>
            </a:r>
          </a:p>
        </p:txBody>
      </p:sp>
      <p:sp>
        <p:nvSpPr>
          <p:cNvPr id="4" name="TextBox 3"/>
          <p:cNvSpPr txBox="1"/>
          <p:nvPr/>
        </p:nvSpPr>
        <p:spPr>
          <a:xfrm>
            <a:off x="822960" y="1965960"/>
            <a:ext cx="640080" cy="429768"/>
          </a:xfrm>
          <a:prstGeom prst="rect">
            <a:avLst/>
          </a:prstGeom>
          <a:noFill/>
        </p:spPr>
        <p:txBody>
          <a:bodyPr wrap="square" anchor="t" lIns="0" rIns="0" tIns="0" bIns="0">
            <a:spAutoFit/>
          </a:bodyPr>
          <a:lstStyle/>
          <a:p>
            <a:r>
              <a:rPr sz="1600" b="1" i="0">
                <a:solidFill>
                  <a:srgbClr val="C89B3C"/>
                </a:solidFill>
                <a:latin typeface="Segoe UI"/>
              </a:rPr>
              <a:t>01</a:t>
            </a:r>
          </a:p>
        </p:txBody>
      </p:sp>
      <p:sp>
        <p:nvSpPr>
          <p:cNvPr id="5" name="TextBox 4"/>
          <p:cNvSpPr txBox="1"/>
          <p:nvPr/>
        </p:nvSpPr>
        <p:spPr>
          <a:xfrm>
            <a:off x="1508760" y="1965960"/>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Be trustworthy before impressive </a:t>
            </a:r>
            <a:r>
              <a:rPr sz="1250" b="0" i="0">
                <a:solidFill>
                  <a:srgbClr val="A79F8B"/>
                </a:solidFill>
                <a:latin typeface="Segoe UI"/>
              </a:rPr>
              <a:t>— do what you said, when you said, every time.</a:t>
            </a:r>
          </a:p>
        </p:txBody>
      </p:sp>
      <p:sp>
        <p:nvSpPr>
          <p:cNvPr id="6" name="TextBox 5"/>
          <p:cNvSpPr txBox="1"/>
          <p:nvPr/>
        </p:nvSpPr>
        <p:spPr>
          <a:xfrm>
            <a:off x="822960" y="2395728"/>
            <a:ext cx="640080" cy="429768"/>
          </a:xfrm>
          <a:prstGeom prst="rect">
            <a:avLst/>
          </a:prstGeom>
          <a:noFill/>
        </p:spPr>
        <p:txBody>
          <a:bodyPr wrap="square" anchor="t" lIns="0" rIns="0" tIns="0" bIns="0">
            <a:spAutoFit/>
          </a:bodyPr>
          <a:lstStyle/>
          <a:p>
            <a:r>
              <a:rPr sz="1600" b="1" i="0">
                <a:solidFill>
                  <a:srgbClr val="C89B3C"/>
                </a:solidFill>
                <a:latin typeface="Segoe UI"/>
              </a:rPr>
              <a:t>02</a:t>
            </a:r>
          </a:p>
        </p:txBody>
      </p:sp>
      <p:sp>
        <p:nvSpPr>
          <p:cNvPr id="7" name="TextBox 6"/>
          <p:cNvSpPr txBox="1"/>
          <p:nvPr/>
        </p:nvSpPr>
        <p:spPr>
          <a:xfrm>
            <a:off x="1508760" y="2395728"/>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Care about them as people </a:t>
            </a:r>
            <a:r>
              <a:rPr sz="1250" b="0" i="0">
                <a:solidFill>
                  <a:srgbClr val="A79F8B"/>
                </a:solidFill>
                <a:latin typeface="Segoe UI"/>
              </a:rPr>
              <a:t>— “people know when you care about them.”</a:t>
            </a:r>
          </a:p>
        </p:txBody>
      </p:sp>
      <p:sp>
        <p:nvSpPr>
          <p:cNvPr id="8" name="TextBox 7"/>
          <p:cNvSpPr txBox="1"/>
          <p:nvPr/>
        </p:nvSpPr>
        <p:spPr>
          <a:xfrm>
            <a:off x="822960" y="2825496"/>
            <a:ext cx="640080" cy="429768"/>
          </a:xfrm>
          <a:prstGeom prst="rect">
            <a:avLst/>
          </a:prstGeom>
          <a:noFill/>
        </p:spPr>
        <p:txBody>
          <a:bodyPr wrap="square" anchor="t" lIns="0" rIns="0" tIns="0" bIns="0">
            <a:spAutoFit/>
          </a:bodyPr>
          <a:lstStyle/>
          <a:p>
            <a:r>
              <a:rPr sz="1600" b="1" i="0">
                <a:solidFill>
                  <a:srgbClr val="C89B3C"/>
                </a:solidFill>
                <a:latin typeface="Segoe UI"/>
              </a:rPr>
              <a:t>03</a:t>
            </a:r>
          </a:p>
        </p:txBody>
      </p:sp>
      <p:sp>
        <p:nvSpPr>
          <p:cNvPr id="9" name="TextBox 8"/>
          <p:cNvSpPr txBox="1"/>
          <p:nvPr/>
        </p:nvSpPr>
        <p:spPr>
          <a:xfrm>
            <a:off x="1508760" y="2825496"/>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Give the why, then get out of the way </a:t>
            </a:r>
            <a:r>
              <a:rPr sz="1250" b="0" i="0">
                <a:solidFill>
                  <a:srgbClr val="A79F8B"/>
                </a:solidFill>
                <a:latin typeface="Segoe UI"/>
              </a:rPr>
              <a:t>— purpose plus autonomy.</a:t>
            </a:r>
          </a:p>
        </p:txBody>
      </p:sp>
      <p:sp>
        <p:nvSpPr>
          <p:cNvPr id="10" name="TextBox 9"/>
          <p:cNvSpPr txBox="1"/>
          <p:nvPr/>
        </p:nvSpPr>
        <p:spPr>
          <a:xfrm>
            <a:off x="822960" y="3255264"/>
            <a:ext cx="640080" cy="429768"/>
          </a:xfrm>
          <a:prstGeom prst="rect">
            <a:avLst/>
          </a:prstGeom>
          <a:noFill/>
        </p:spPr>
        <p:txBody>
          <a:bodyPr wrap="square" anchor="t" lIns="0" rIns="0" tIns="0" bIns="0">
            <a:spAutoFit/>
          </a:bodyPr>
          <a:lstStyle/>
          <a:p>
            <a:r>
              <a:rPr sz="1600" b="1" i="0">
                <a:solidFill>
                  <a:srgbClr val="C89B3C"/>
                </a:solidFill>
                <a:latin typeface="Segoe UI"/>
              </a:rPr>
              <a:t>04</a:t>
            </a:r>
          </a:p>
        </p:txBody>
      </p:sp>
      <p:sp>
        <p:nvSpPr>
          <p:cNvPr id="11" name="TextBox 10"/>
          <p:cNvSpPr txBox="1"/>
          <p:nvPr/>
        </p:nvSpPr>
        <p:spPr>
          <a:xfrm>
            <a:off x="1508760" y="3255264"/>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Fight for them visibly </a:t>
            </a:r>
            <a:r>
              <a:rPr sz="1250" b="0" i="0">
                <a:solidFill>
                  <a:srgbClr val="A79F8B"/>
                </a:solidFill>
                <a:latin typeface="Segoe UI"/>
              </a:rPr>
              <a:t>— “praise goes down, blame stops with me.”</a:t>
            </a:r>
          </a:p>
        </p:txBody>
      </p:sp>
      <p:sp>
        <p:nvSpPr>
          <p:cNvPr id="12" name="TextBox 11"/>
          <p:cNvSpPr txBox="1"/>
          <p:nvPr/>
        </p:nvSpPr>
        <p:spPr>
          <a:xfrm>
            <a:off x="822960" y="3685032"/>
            <a:ext cx="640080" cy="429768"/>
          </a:xfrm>
          <a:prstGeom prst="rect">
            <a:avLst/>
          </a:prstGeom>
          <a:noFill/>
        </p:spPr>
        <p:txBody>
          <a:bodyPr wrap="square" anchor="t" lIns="0" rIns="0" tIns="0" bIns="0">
            <a:spAutoFit/>
          </a:bodyPr>
          <a:lstStyle/>
          <a:p>
            <a:r>
              <a:rPr sz="1600" b="1" i="0">
                <a:solidFill>
                  <a:srgbClr val="C89B3C"/>
                </a:solidFill>
                <a:latin typeface="Segoe UI"/>
              </a:rPr>
              <a:t>05</a:t>
            </a:r>
          </a:p>
        </p:txBody>
      </p:sp>
      <p:sp>
        <p:nvSpPr>
          <p:cNvPr id="13" name="TextBox 12"/>
          <p:cNvSpPr txBox="1"/>
          <p:nvPr/>
        </p:nvSpPr>
        <p:spPr>
          <a:xfrm>
            <a:off x="1508760" y="3685032"/>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Make working with you a growth experience </a:t>
            </a:r>
            <a:r>
              <a:rPr sz="1250" b="0" i="0">
                <a:solidFill>
                  <a:srgbClr val="A79F8B"/>
                </a:solidFill>
                <a:latin typeface="Segoe UI"/>
              </a:rPr>
              <a:t>— think out loud, delegate stretch work.</a:t>
            </a:r>
          </a:p>
        </p:txBody>
      </p:sp>
      <p:sp>
        <p:nvSpPr>
          <p:cNvPr id="14" name="TextBox 13"/>
          <p:cNvSpPr txBox="1"/>
          <p:nvPr/>
        </p:nvSpPr>
        <p:spPr>
          <a:xfrm>
            <a:off x="822960" y="4114800"/>
            <a:ext cx="640080" cy="429768"/>
          </a:xfrm>
          <a:prstGeom prst="rect">
            <a:avLst/>
          </a:prstGeom>
          <a:noFill/>
        </p:spPr>
        <p:txBody>
          <a:bodyPr wrap="square" anchor="t" lIns="0" rIns="0" tIns="0" bIns="0">
            <a:spAutoFit/>
          </a:bodyPr>
          <a:lstStyle/>
          <a:p>
            <a:r>
              <a:rPr sz="1600" b="1" i="0">
                <a:solidFill>
                  <a:srgbClr val="C89B3C"/>
                </a:solidFill>
                <a:latin typeface="Segoe UI"/>
              </a:rPr>
              <a:t>06</a:t>
            </a:r>
          </a:p>
        </p:txBody>
      </p:sp>
      <p:sp>
        <p:nvSpPr>
          <p:cNvPr id="15" name="TextBox 14"/>
          <p:cNvSpPr txBox="1"/>
          <p:nvPr/>
        </p:nvSpPr>
        <p:spPr>
          <a:xfrm>
            <a:off x="1508760" y="4114800"/>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Be pleasant under stress </a:t>
            </a:r>
            <a:r>
              <a:rPr sz="1250" b="0" i="0">
                <a:solidFill>
                  <a:srgbClr val="A79F8B"/>
                </a:solidFill>
                <a:latin typeface="Segoe UI"/>
              </a:rPr>
              <a:t>— the worst day is your real reputation.</a:t>
            </a:r>
          </a:p>
        </p:txBody>
      </p:sp>
      <p:sp>
        <p:nvSpPr>
          <p:cNvPr id="16" name="TextBox 15"/>
          <p:cNvSpPr txBox="1"/>
          <p:nvPr/>
        </p:nvSpPr>
        <p:spPr>
          <a:xfrm>
            <a:off x="822960" y="4544568"/>
            <a:ext cx="640080" cy="429768"/>
          </a:xfrm>
          <a:prstGeom prst="rect">
            <a:avLst/>
          </a:prstGeom>
          <a:noFill/>
        </p:spPr>
        <p:txBody>
          <a:bodyPr wrap="square" anchor="t" lIns="0" rIns="0" tIns="0" bIns="0">
            <a:spAutoFit/>
          </a:bodyPr>
          <a:lstStyle/>
          <a:p>
            <a:r>
              <a:rPr sz="1600" b="1" i="0">
                <a:solidFill>
                  <a:srgbClr val="C89B3C"/>
                </a:solidFill>
                <a:latin typeface="Segoe UI"/>
              </a:rPr>
              <a:t>07</a:t>
            </a:r>
          </a:p>
        </p:txBody>
      </p:sp>
      <p:sp>
        <p:nvSpPr>
          <p:cNvPr id="17" name="TextBox 16"/>
          <p:cNvSpPr txBox="1"/>
          <p:nvPr/>
        </p:nvSpPr>
        <p:spPr>
          <a:xfrm>
            <a:off x="1508760" y="4544568"/>
            <a:ext cx="9555480" cy="429768"/>
          </a:xfrm>
          <a:prstGeom prst="rect">
            <a:avLst/>
          </a:prstGeom>
          <a:noFill/>
        </p:spPr>
        <p:txBody>
          <a:bodyPr wrap="square" anchor="t" lIns="0" rIns="0" tIns="0" bIns="0">
            <a:spAutoFit/>
          </a:bodyPr>
          <a:lstStyle/>
          <a:p>
            <a:pPr>
              <a:lnSpc>
                <a:spcPct val="115000"/>
              </a:lnSpc>
            </a:pPr>
            <a:r>
              <a:rPr sz="1250" b="1" i="0">
                <a:solidFill>
                  <a:srgbClr val="EDE6D6"/>
                </a:solidFill>
                <a:latin typeface="Segoe UI"/>
              </a:rPr>
              <a:t>Ask for their opinion — and use it </a:t>
            </a:r>
            <a:r>
              <a:rPr sz="1250" b="0" i="0">
                <a:solidFill>
                  <a:srgbClr val="A79F8B"/>
                </a:solidFill>
                <a:latin typeface="Segoe UI"/>
              </a:rPr>
              <a:t>— “we're doing X because of Rina's point.”</a:t>
            </a:r>
          </a:p>
        </p:txBody>
      </p:sp>
      <p:sp>
        <p:nvSpPr>
          <p:cNvPr id="18" name="TextBox 17"/>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 · WHY PEOPLE STAY</a:t>
            </a:r>
          </a:p>
        </p:txBody>
      </p:sp>
      <p:sp>
        <p:nvSpPr>
          <p:cNvPr id="19" name="TextBox 18"/>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31 / 37</a:t>
            </a:r>
          </a:p>
        </p:txBody>
      </p:sp>
      <p:sp>
        <p:nvSpPr>
          <p:cNvPr id="20" name="Rectangle 19"/>
          <p:cNvSpPr/>
          <p:nvPr/>
        </p:nvSpPr>
        <p:spPr>
          <a:xfrm>
            <a:off x="0" y="0"/>
            <a:ext cx="10214663"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VI</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SIX</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Taking Criticism, Absorbing Pressure</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You are the shock absorber, not the amplifier.</a:t>
            </a:r>
          </a:p>
        </p:txBody>
      </p:sp>
      <p:sp>
        <p:nvSpPr>
          <p:cNvPr id="6" name="TextBox 5"/>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VI · CRITICISM &amp; PRESSURE</a:t>
            </a:r>
          </a:p>
        </p:txBody>
      </p:sp>
      <p:sp>
        <p:nvSpPr>
          <p:cNvPr id="7" name="TextBox 6"/>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32 / 37</a:t>
            </a:r>
          </a:p>
        </p:txBody>
      </p:sp>
      <p:sp>
        <p:nvSpPr>
          <p:cNvPr id="8" name="Rectangle 7"/>
          <p:cNvSpPr/>
          <p:nvPr/>
        </p:nvSpPr>
        <p:spPr>
          <a:xfrm>
            <a:off x="0" y="0"/>
            <a:ext cx="10544168"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822960"/>
            <a:ext cx="5120640" cy="365760"/>
          </a:xfrm>
          <a:prstGeom prst="rect">
            <a:avLst/>
          </a:prstGeom>
          <a:noFill/>
        </p:spPr>
        <p:txBody>
          <a:bodyPr wrap="square" anchor="t" lIns="0" rIns="0" tIns="0" bIns="0">
            <a:spAutoFit/>
          </a:bodyPr>
          <a:lstStyle/>
          <a:p>
            <a:r>
              <a:rPr sz="1300" b="1" i="0" spc="150">
                <a:solidFill>
                  <a:srgbClr val="C89B3C"/>
                </a:solidFill>
                <a:latin typeface="Segoe UI"/>
              </a:rPr>
              <a:t>TAKING CRITICISM WELL</a:t>
            </a:r>
          </a:p>
        </p:txBody>
      </p:sp>
      <p:sp>
        <p:nvSpPr>
          <p:cNvPr id="3" name="TextBox 2"/>
          <p:cNvSpPr txBox="1"/>
          <p:nvPr/>
        </p:nvSpPr>
        <p:spPr>
          <a:xfrm>
            <a:off x="822960" y="128016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4" name="TextBox 3"/>
          <p:cNvSpPr txBox="1"/>
          <p:nvPr/>
        </p:nvSpPr>
        <p:spPr>
          <a:xfrm>
            <a:off x="1234440" y="128016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Treat it as data, not verdict </a:t>
            </a:r>
            <a:r>
              <a:rPr sz="1300" b="0" i="0">
                <a:solidFill>
                  <a:srgbClr val="A79F8B"/>
                </a:solidFill>
                <a:latin typeface="Segoe UI"/>
              </a:rPr>
              <a:t>— “what's the useful 20%?”</a:t>
            </a:r>
          </a:p>
        </p:txBody>
      </p:sp>
      <p:sp>
        <p:nvSpPr>
          <p:cNvPr id="5" name="TextBox 4"/>
          <p:cNvSpPr txBox="1"/>
          <p:nvPr/>
        </p:nvSpPr>
        <p:spPr>
          <a:xfrm>
            <a:off x="822960" y="205740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6" name="TextBox 5"/>
          <p:cNvSpPr txBox="1"/>
          <p:nvPr/>
        </p:nvSpPr>
        <p:spPr>
          <a:xfrm>
            <a:off x="1234440" y="205740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Respond reflectively </a:t>
            </a:r>
            <a:r>
              <a:rPr sz="1300" b="0" i="0">
                <a:solidFill>
                  <a:srgbClr val="A79F8B"/>
                </a:solidFill>
                <a:latin typeface="Segoe UI"/>
              </a:rPr>
              <a:t>— “let me think and come back to you.”</a:t>
            </a:r>
          </a:p>
        </p:txBody>
      </p:sp>
      <p:sp>
        <p:nvSpPr>
          <p:cNvPr id="7" name="TextBox 6"/>
          <p:cNvSpPr txBox="1"/>
          <p:nvPr/>
        </p:nvSpPr>
        <p:spPr>
          <a:xfrm>
            <a:off x="822960" y="283464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8" name="TextBox 7"/>
          <p:cNvSpPr txBox="1"/>
          <p:nvPr/>
        </p:nvSpPr>
        <p:spPr>
          <a:xfrm>
            <a:off x="1234440" y="283464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Be a learn-it-all </a:t>
            </a:r>
            <a:r>
              <a:rPr sz="1300" b="0" i="0">
                <a:solidFill>
                  <a:srgbClr val="A79F8B"/>
                </a:solidFill>
                <a:latin typeface="Segoe UI"/>
              </a:rPr>
              <a:t>not a know-it-all.</a:t>
            </a:r>
          </a:p>
        </p:txBody>
      </p:sp>
      <p:sp>
        <p:nvSpPr>
          <p:cNvPr id="9" name="TextBox 8"/>
          <p:cNvSpPr txBox="1"/>
          <p:nvPr/>
        </p:nvSpPr>
        <p:spPr>
          <a:xfrm>
            <a:off x="822960" y="361188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0" name="TextBox 9"/>
          <p:cNvSpPr txBox="1"/>
          <p:nvPr/>
        </p:nvSpPr>
        <p:spPr>
          <a:xfrm>
            <a:off x="1234440" y="361188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Model it publicly </a:t>
            </a:r>
            <a:r>
              <a:rPr sz="1300" b="0" i="0">
                <a:solidFill>
                  <a:srgbClr val="A79F8B"/>
                </a:solidFill>
                <a:latin typeface="Segoe UI"/>
              </a:rPr>
              <a:t>— “good point, I got that wrong.”</a:t>
            </a:r>
          </a:p>
        </p:txBody>
      </p:sp>
      <p:sp>
        <p:nvSpPr>
          <p:cNvPr id="11" name="TextBox 10"/>
          <p:cNvSpPr txBox="1"/>
          <p:nvPr/>
        </p:nvSpPr>
        <p:spPr>
          <a:xfrm>
            <a:off x="6309360" y="822960"/>
            <a:ext cx="5120640" cy="365760"/>
          </a:xfrm>
          <a:prstGeom prst="rect">
            <a:avLst/>
          </a:prstGeom>
          <a:noFill/>
        </p:spPr>
        <p:txBody>
          <a:bodyPr wrap="square" anchor="t" lIns="0" rIns="0" tIns="0" bIns="0">
            <a:spAutoFit/>
          </a:bodyPr>
          <a:lstStyle/>
          <a:p>
            <a:r>
              <a:rPr sz="1300" b="1" i="0" spc="150">
                <a:solidFill>
                  <a:srgbClr val="C89B3C"/>
                </a:solidFill>
                <a:latin typeface="Segoe UI"/>
              </a:rPr>
              <a:t>HANDLING PRESSURE WITHOUT LEAKING IT</a:t>
            </a:r>
          </a:p>
        </p:txBody>
      </p:sp>
      <p:sp>
        <p:nvSpPr>
          <p:cNvPr id="12" name="TextBox 11"/>
          <p:cNvSpPr txBox="1"/>
          <p:nvPr/>
        </p:nvSpPr>
        <p:spPr>
          <a:xfrm>
            <a:off x="6309360" y="128016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3" name="TextBox 12"/>
          <p:cNvSpPr txBox="1"/>
          <p:nvPr/>
        </p:nvSpPr>
        <p:spPr>
          <a:xfrm>
            <a:off x="6720840" y="128016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Convert pressure into clear priorities </a:t>
            </a:r>
            <a:r>
              <a:rPr sz="1300" b="0" i="0">
                <a:solidFill>
                  <a:srgbClr val="A79F8B"/>
                </a:solidFill>
                <a:latin typeface="Segoe UI"/>
              </a:rPr>
              <a:t>not raw anxiety.</a:t>
            </a:r>
          </a:p>
        </p:txBody>
      </p:sp>
      <p:sp>
        <p:nvSpPr>
          <p:cNvPr id="14" name="TextBox 13"/>
          <p:cNvSpPr txBox="1"/>
          <p:nvPr/>
        </p:nvSpPr>
        <p:spPr>
          <a:xfrm>
            <a:off x="6309360" y="205740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5" name="TextBox 14"/>
          <p:cNvSpPr txBox="1"/>
          <p:nvPr/>
        </p:nvSpPr>
        <p:spPr>
          <a:xfrm>
            <a:off x="6720840" y="205740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Reframe the surge </a:t>
            </a:r>
            <a:r>
              <a:rPr sz="1300" b="0" i="0">
                <a:solidFill>
                  <a:srgbClr val="A79F8B"/>
                </a:solidFill>
                <a:latin typeface="Segoe UI"/>
              </a:rPr>
              <a:t>— excitement that the moment matters.</a:t>
            </a:r>
          </a:p>
        </p:txBody>
      </p:sp>
      <p:sp>
        <p:nvSpPr>
          <p:cNvPr id="16" name="TextBox 15"/>
          <p:cNvSpPr txBox="1"/>
          <p:nvPr/>
        </p:nvSpPr>
        <p:spPr>
          <a:xfrm>
            <a:off x="6309360" y="283464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7" name="TextBox 16"/>
          <p:cNvSpPr txBox="1"/>
          <p:nvPr/>
        </p:nvSpPr>
        <p:spPr>
          <a:xfrm>
            <a:off x="6720840" y="283464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Process up and sideways </a:t>
            </a:r>
            <a:r>
              <a:rPr sz="1300" b="0" i="0">
                <a:solidFill>
                  <a:srgbClr val="A79F8B"/>
                </a:solidFill>
                <a:latin typeface="Segoe UI"/>
              </a:rPr>
              <a:t>never down to your team.</a:t>
            </a:r>
          </a:p>
        </p:txBody>
      </p:sp>
      <p:sp>
        <p:nvSpPr>
          <p:cNvPr id="18" name="TextBox 17"/>
          <p:cNvSpPr txBox="1"/>
          <p:nvPr/>
        </p:nvSpPr>
        <p:spPr>
          <a:xfrm>
            <a:off x="6309360" y="3611880"/>
            <a:ext cx="365760" cy="777240"/>
          </a:xfrm>
          <a:prstGeom prst="rect">
            <a:avLst/>
          </a:prstGeom>
          <a:noFill/>
        </p:spPr>
        <p:txBody>
          <a:bodyPr wrap="square" anchor="t" lIns="0" rIns="0" tIns="0" bIns="0">
            <a:spAutoFit/>
          </a:bodyPr>
          <a:lstStyle/>
          <a:p>
            <a:r>
              <a:rPr sz="1500" b="1" i="0">
                <a:solidFill>
                  <a:srgbClr val="C89B3C"/>
                </a:solidFill>
                <a:latin typeface="Segoe UI"/>
              </a:rPr>
              <a:t>—</a:t>
            </a:r>
          </a:p>
        </p:txBody>
      </p:sp>
      <p:sp>
        <p:nvSpPr>
          <p:cNvPr id="19" name="TextBox 18"/>
          <p:cNvSpPr txBox="1"/>
          <p:nvPr/>
        </p:nvSpPr>
        <p:spPr>
          <a:xfrm>
            <a:off x="6720840" y="3611880"/>
            <a:ext cx="4617720" cy="777240"/>
          </a:xfrm>
          <a:prstGeom prst="rect">
            <a:avLst/>
          </a:prstGeom>
          <a:noFill/>
        </p:spPr>
        <p:txBody>
          <a:bodyPr wrap="square" anchor="t" lIns="0" rIns="0" tIns="0" bIns="0">
            <a:spAutoFit/>
          </a:bodyPr>
          <a:lstStyle/>
          <a:p>
            <a:pPr>
              <a:lnSpc>
                <a:spcPct val="115000"/>
              </a:lnSpc>
            </a:pPr>
            <a:r>
              <a:rPr sz="1300" b="1" i="0">
                <a:solidFill>
                  <a:srgbClr val="EDE6D6"/>
                </a:solidFill>
                <a:latin typeface="Segoe UI"/>
              </a:rPr>
              <a:t>Keep your routines </a:t>
            </a:r>
            <a:r>
              <a:rPr sz="1300" b="0" i="0">
                <a:solidFill>
                  <a:srgbClr val="A79F8B"/>
                </a:solidFill>
                <a:latin typeface="Segoe UI"/>
              </a:rPr>
              <a:t>— a depleted leader leaks stress regardless.</a:t>
            </a:r>
          </a:p>
        </p:txBody>
      </p:sp>
      <p:sp>
        <p:nvSpPr>
          <p:cNvPr id="20" name="TextBox 19"/>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VI · CRITICISM &amp; PRESSURE</a:t>
            </a:r>
          </a:p>
        </p:txBody>
      </p:sp>
      <p:sp>
        <p:nvSpPr>
          <p:cNvPr id="21" name="TextBox 20"/>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33 / 37</a:t>
            </a:r>
          </a:p>
        </p:txBody>
      </p:sp>
      <p:sp>
        <p:nvSpPr>
          <p:cNvPr id="22" name="Rectangle 21"/>
          <p:cNvSpPr/>
          <p:nvPr/>
        </p:nvSpPr>
        <p:spPr>
          <a:xfrm>
            <a:off x="0" y="0"/>
            <a:ext cx="10873673"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VII</a:t>
            </a:r>
          </a:p>
        </p:txBody>
      </p:sp>
      <p:sp>
        <p:nvSpPr>
          <p:cNvPr id="3" name="TextBox 2"/>
          <p:cNvSpPr txBox="1"/>
          <p:nvPr/>
        </p:nvSpPr>
        <p:spPr>
          <a:xfrm>
            <a:off x="3931920" y="173736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SEVEN</a:t>
            </a:r>
          </a:p>
        </p:txBody>
      </p:sp>
      <p:sp>
        <p:nvSpPr>
          <p:cNvPr id="4" name="TextBox 3"/>
          <p:cNvSpPr txBox="1"/>
          <p:nvPr/>
        </p:nvSpPr>
        <p:spPr>
          <a:xfrm>
            <a:off x="3931920" y="2148840"/>
            <a:ext cx="7406640" cy="1188720"/>
          </a:xfrm>
          <a:prstGeom prst="rect">
            <a:avLst/>
          </a:prstGeom>
          <a:noFill/>
        </p:spPr>
        <p:txBody>
          <a:bodyPr wrap="square" anchor="t" lIns="0" rIns="0" tIns="0" bIns="0">
            <a:spAutoFit/>
          </a:bodyPr>
          <a:lstStyle/>
          <a:p>
            <a:pPr>
              <a:lnSpc>
                <a:spcPct val="102000"/>
              </a:lnSpc>
            </a:pPr>
            <a:r>
              <a:rPr sz="3200" b="0" i="0">
                <a:solidFill>
                  <a:srgbClr val="EDE6D6"/>
                </a:solidFill>
                <a:latin typeface="Georgia"/>
              </a:rPr>
              <a:t>The Hogan Development Plan</a:t>
            </a:r>
          </a:p>
        </p:txBody>
      </p:sp>
      <p:sp>
        <p:nvSpPr>
          <p:cNvPr id="5" name="TextBox 4"/>
          <p:cNvSpPr txBox="1"/>
          <p:nvPr/>
        </p:nvSpPr>
        <p:spPr>
          <a:xfrm>
            <a:off x="3931920" y="3063240"/>
            <a:ext cx="7132320" cy="1463040"/>
          </a:xfrm>
          <a:prstGeom prst="rect">
            <a:avLst/>
          </a:prstGeom>
          <a:noFill/>
        </p:spPr>
        <p:txBody>
          <a:bodyPr wrap="square" anchor="t" lIns="0" rIns="0" tIns="0" bIns="0">
            <a:spAutoFit/>
          </a:bodyPr>
          <a:lstStyle/>
          <a:p>
            <a:pPr>
              <a:lnSpc>
                <a:spcPct val="130000"/>
              </a:lnSpc>
            </a:pPr>
            <a:r>
              <a:rPr sz="1500" b="0" i="0">
                <a:solidFill>
                  <a:srgbClr val="A79F8B"/>
                </a:solidFill>
                <a:latin typeface="Segoe UI"/>
              </a:rPr>
              <a:t>Leadership is reputation, not identity. Under pressure, strengths become derailers — confidence reads as arrogance, drive as impatience.</a:t>
            </a:r>
          </a:p>
        </p:txBody>
      </p:sp>
      <p:sp>
        <p:nvSpPr>
          <p:cNvPr id="6" name="TextBox 5"/>
          <p:cNvSpPr txBox="1"/>
          <p:nvPr/>
        </p:nvSpPr>
        <p:spPr>
          <a:xfrm>
            <a:off x="3931920" y="4206240"/>
            <a:ext cx="3657600" cy="731520"/>
          </a:xfrm>
          <a:prstGeom prst="rect">
            <a:avLst/>
          </a:prstGeom>
          <a:noFill/>
        </p:spPr>
        <p:txBody>
          <a:bodyPr wrap="square" anchor="t" lIns="0" rIns="0" tIns="0" bIns="0">
            <a:spAutoFit/>
          </a:bodyPr>
          <a:lstStyle/>
          <a:p>
            <a:r>
              <a:rPr sz="3400" b="1" i="0">
                <a:solidFill>
                  <a:srgbClr val="C89B3C"/>
                </a:solidFill>
                <a:latin typeface="Segoe UI"/>
              </a:rPr>
              <a:t>4  </a:t>
            </a:r>
            <a:r>
              <a:rPr sz="1300" b="0" i="0">
                <a:solidFill>
                  <a:srgbClr val="A79F8B"/>
                </a:solidFill>
                <a:latin typeface="Segoe UI"/>
              </a:rPr>
              <a:t>competencies, this chapter</a:t>
            </a:r>
          </a:p>
        </p:txBody>
      </p:sp>
      <p:sp>
        <p:nvSpPr>
          <p:cNvPr id="7" name="TextBox 6"/>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VII · HOGAN COMPETENCIES</a:t>
            </a:r>
          </a:p>
        </p:txBody>
      </p:sp>
      <p:sp>
        <p:nvSpPr>
          <p:cNvPr id="8" name="TextBox 7"/>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34 / 37</a:t>
            </a:r>
          </a:p>
        </p:txBody>
      </p:sp>
      <p:sp>
        <p:nvSpPr>
          <p:cNvPr id="9" name="Rectangle 8"/>
          <p:cNvSpPr/>
          <p:nvPr/>
        </p:nvSpPr>
        <p:spPr>
          <a:xfrm>
            <a:off x="0" y="0"/>
            <a:ext cx="11203179"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822960" y="685800"/>
            <a:ext cx="10515600" cy="365760"/>
          </a:xfrm>
          <a:prstGeom prst="rect">
            <a:avLst/>
          </a:prstGeom>
          <a:noFill/>
        </p:spPr>
        <p:txBody>
          <a:bodyPr wrap="square" anchor="t" lIns="0" rIns="0" tIns="0" bIns="0">
            <a:spAutoFit/>
          </a:bodyPr>
          <a:lstStyle/>
          <a:p>
            <a:r>
              <a:rPr sz="1300" b="1" i="0" spc="150">
                <a:solidFill>
                  <a:srgbClr val="C89B3C"/>
                </a:solidFill>
                <a:latin typeface="Segoe UI"/>
              </a:rPr>
              <a:t>FOUR COMPETENCIES</a:t>
            </a:r>
          </a:p>
        </p:txBody>
      </p:sp>
      <p:sp>
        <p:nvSpPr>
          <p:cNvPr id="3" name="TextBox 2"/>
          <p:cNvSpPr txBox="1"/>
          <p:nvPr/>
        </p:nvSpPr>
        <p:spPr>
          <a:xfrm>
            <a:off x="822960" y="1051560"/>
            <a:ext cx="1051560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Bright side, dark-side trigger</a:t>
            </a:r>
          </a:p>
        </p:txBody>
      </p:sp>
      <p:sp>
        <p:nvSpPr>
          <p:cNvPr id="4" name="Rounded Rectangle 3"/>
          <p:cNvSpPr/>
          <p:nvPr/>
        </p:nvSpPr>
        <p:spPr>
          <a:xfrm>
            <a:off x="822960" y="1965960"/>
            <a:ext cx="5143500" cy="19659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01</a:t>
            </a:r>
          </a:p>
          <a:p>
            <a:pPr>
              <a:spcBef>
                <a:spcPts val="400"/>
              </a:spcBef>
            </a:pPr>
            <a:r>
              <a:rPr sz="1500" b="1" i="0">
                <a:solidFill>
                  <a:srgbClr val="EDE6D6"/>
                </a:solidFill>
                <a:latin typeface="Georgia"/>
              </a:rPr>
              <a:t>Executive presence</a:t>
            </a:r>
          </a:p>
          <a:p>
            <a:pPr>
              <a:lnSpc>
                <a:spcPct val="120000"/>
              </a:lnSpc>
              <a:spcBef>
                <a:spcPts val="400"/>
              </a:spcBef>
            </a:pPr>
            <a:r>
              <a:rPr sz="1150" b="0" i="0">
                <a:solidFill>
                  <a:srgbClr val="A79F8B"/>
                </a:solidFill>
                <a:latin typeface="Segoe UI"/>
              </a:rPr>
              <a:t>Composure + clarity, not volume. Watch-out: going quiet under pressure reads as absence, not diligence.</a:t>
            </a:r>
          </a:p>
        </p:txBody>
      </p:sp>
      <p:sp>
        <p:nvSpPr>
          <p:cNvPr id="5" name="Rounded Rectangle 4"/>
          <p:cNvSpPr/>
          <p:nvPr/>
        </p:nvSpPr>
        <p:spPr>
          <a:xfrm>
            <a:off x="6195060" y="1965960"/>
            <a:ext cx="5143500" cy="19659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02</a:t>
            </a:r>
          </a:p>
          <a:p>
            <a:pPr>
              <a:spcBef>
                <a:spcPts val="400"/>
              </a:spcBef>
            </a:pPr>
            <a:r>
              <a:rPr sz="1500" b="1" i="0">
                <a:solidFill>
                  <a:srgbClr val="EDE6D6"/>
                </a:solidFill>
                <a:latin typeface="Georgia"/>
              </a:rPr>
              <a:t>Effective communication</a:t>
            </a:r>
          </a:p>
          <a:p>
            <a:pPr>
              <a:lnSpc>
                <a:spcPct val="120000"/>
              </a:lnSpc>
              <a:spcBef>
                <a:spcPts val="400"/>
              </a:spcBef>
            </a:pPr>
            <a:r>
              <a:rPr sz="1150" b="0" i="0">
                <a:solidFill>
                  <a:srgbClr val="A79F8B"/>
                </a:solidFill>
                <a:latin typeface="Segoe UI"/>
              </a:rPr>
              <a:t>Headline first, channel matched to message. Watch-out: stress pushes you too blunt or too diplomatic.</a:t>
            </a:r>
          </a:p>
        </p:txBody>
      </p:sp>
      <p:sp>
        <p:nvSpPr>
          <p:cNvPr id="6" name="Rounded Rectangle 5"/>
          <p:cNvSpPr/>
          <p:nvPr/>
        </p:nvSpPr>
        <p:spPr>
          <a:xfrm>
            <a:off x="822960" y="4160520"/>
            <a:ext cx="5143500" cy="19659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03</a:t>
            </a:r>
          </a:p>
          <a:p>
            <a:pPr>
              <a:spcBef>
                <a:spcPts val="400"/>
              </a:spcBef>
            </a:pPr>
            <a:r>
              <a:rPr sz="1500" b="1" i="0">
                <a:solidFill>
                  <a:srgbClr val="EDE6D6"/>
                </a:solidFill>
                <a:latin typeface="Georgia"/>
              </a:rPr>
              <a:t>Coaching skills</a:t>
            </a:r>
          </a:p>
          <a:p>
            <a:pPr>
              <a:lnSpc>
                <a:spcPct val="120000"/>
              </a:lnSpc>
              <a:spcBef>
                <a:spcPts val="400"/>
              </a:spcBef>
            </a:pPr>
            <a:r>
              <a:rPr sz="1150" b="0" i="0">
                <a:solidFill>
                  <a:srgbClr val="A79F8B"/>
                </a:solidFill>
                <a:latin typeface="Segoe UI"/>
              </a:rPr>
              <a:t>Ask, don't tell — GROW: Goal, Reality, Options, Will. Watch-out: doing the work yourself caps the team's growth.</a:t>
            </a:r>
          </a:p>
        </p:txBody>
      </p:sp>
      <p:sp>
        <p:nvSpPr>
          <p:cNvPr id="7" name="Rounded Rectangle 6"/>
          <p:cNvSpPr/>
          <p:nvPr/>
        </p:nvSpPr>
        <p:spPr>
          <a:xfrm>
            <a:off x="6195060" y="4160520"/>
            <a:ext cx="5143500" cy="1965960"/>
          </a:xfrm>
          <a:prstGeom prst="roundRect">
            <a:avLst>
              <a:gd name="adj" fmla="val 4500"/>
            </a:avLst>
          </a:prstGeom>
          <a:solidFill>
            <a:srgbClr val="16202C"/>
          </a:solidFill>
          <a:ln w="12700">
            <a:solidFill>
              <a:srgbClr val="2B354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ctr"/>
            <a:r>
              <a:rPr sz="2000" b="1" i="0">
                <a:solidFill>
                  <a:srgbClr val="C89B3C"/>
                </a:solidFill>
                <a:latin typeface="Segoe UI"/>
              </a:rPr>
              <a:t>04</a:t>
            </a:r>
          </a:p>
          <a:p>
            <a:pPr>
              <a:spcBef>
                <a:spcPts val="400"/>
              </a:spcBef>
            </a:pPr>
            <a:r>
              <a:rPr sz="1500" b="1" i="0">
                <a:solidFill>
                  <a:srgbClr val="EDE6D6"/>
                </a:solidFill>
                <a:latin typeface="Georgia"/>
              </a:rPr>
              <a:t>Influence &amp; negotiation</a:t>
            </a:r>
          </a:p>
          <a:p>
            <a:pPr>
              <a:lnSpc>
                <a:spcPct val="120000"/>
              </a:lnSpc>
              <a:spcBef>
                <a:spcPts val="400"/>
              </a:spcBef>
            </a:pPr>
            <a:r>
              <a:rPr sz="1150" b="0" i="0">
                <a:solidFill>
                  <a:srgbClr val="A79F8B"/>
                </a:solidFill>
                <a:latin typeface="Segoe UI"/>
              </a:rPr>
              <a:t>Map interests, not positions. Watch-out: overcommitting to win the room, or deflating at pushback.</a:t>
            </a:r>
          </a:p>
        </p:txBody>
      </p:sp>
      <p:sp>
        <p:nvSpPr>
          <p:cNvPr id="8" name="TextBox 7"/>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VII · HOGAN COMPETENCIES</a:t>
            </a:r>
          </a:p>
        </p:txBody>
      </p:sp>
      <p:sp>
        <p:nvSpPr>
          <p:cNvPr id="9" name="TextBox 8"/>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35 / 37</a:t>
            </a:r>
          </a:p>
        </p:txBody>
      </p:sp>
      <p:sp>
        <p:nvSpPr>
          <p:cNvPr id="10" name="Rectangle 9"/>
          <p:cNvSpPr/>
          <p:nvPr/>
        </p:nvSpPr>
        <p:spPr>
          <a:xfrm>
            <a:off x="0" y="0"/>
            <a:ext cx="11532684"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TextBox 1"/>
          <p:cNvSpPr txBox="1"/>
          <p:nvPr/>
        </p:nvSpPr>
        <p:spPr>
          <a:xfrm>
            <a:off x="457200" y="1920240"/>
            <a:ext cx="3108960" cy="2743200"/>
          </a:xfrm>
          <a:prstGeom prst="rect">
            <a:avLst/>
          </a:prstGeom>
          <a:noFill/>
        </p:spPr>
        <p:txBody>
          <a:bodyPr wrap="square" anchor="ctr" lIns="0" rIns="0" tIns="0" bIns="0">
            <a:spAutoFit/>
          </a:bodyPr>
          <a:lstStyle/>
          <a:p>
            <a:pPr algn="ctr"/>
            <a:r>
              <a:rPr sz="13000" b="1" i="0">
                <a:solidFill>
                  <a:srgbClr val="C89B3C"/>
                </a:solidFill>
                <a:latin typeface="Georgia"/>
              </a:rPr>
              <a:t>VIII</a:t>
            </a:r>
          </a:p>
        </p:txBody>
      </p:sp>
      <p:sp>
        <p:nvSpPr>
          <p:cNvPr id="3" name="TextBox 2"/>
          <p:cNvSpPr txBox="1"/>
          <p:nvPr/>
        </p:nvSpPr>
        <p:spPr>
          <a:xfrm>
            <a:off x="3931920" y="1371600"/>
            <a:ext cx="7406640" cy="365760"/>
          </a:xfrm>
          <a:prstGeom prst="rect">
            <a:avLst/>
          </a:prstGeom>
          <a:noFill/>
        </p:spPr>
        <p:txBody>
          <a:bodyPr wrap="square" anchor="t" lIns="0" rIns="0" tIns="0" bIns="0">
            <a:spAutoFit/>
          </a:bodyPr>
          <a:lstStyle/>
          <a:p>
            <a:r>
              <a:rPr sz="1300" b="1" i="0" spc="140">
                <a:solidFill>
                  <a:srgbClr val="C89B3C"/>
                </a:solidFill>
                <a:latin typeface="Segoe UI"/>
              </a:rPr>
              <a:t>CHAPTER EIGHT</a:t>
            </a:r>
          </a:p>
        </p:txBody>
      </p:sp>
      <p:sp>
        <p:nvSpPr>
          <p:cNvPr id="4" name="TextBox 3"/>
          <p:cNvSpPr txBox="1"/>
          <p:nvPr/>
        </p:nvSpPr>
        <p:spPr>
          <a:xfrm>
            <a:off x="3931920" y="1737360"/>
            <a:ext cx="7406640" cy="1188720"/>
          </a:xfrm>
          <a:prstGeom prst="rect">
            <a:avLst/>
          </a:prstGeom>
          <a:noFill/>
        </p:spPr>
        <p:txBody>
          <a:bodyPr wrap="square" anchor="t" lIns="0" rIns="0" tIns="0" bIns="0">
            <a:spAutoFit/>
          </a:bodyPr>
          <a:lstStyle/>
          <a:p>
            <a:pPr>
              <a:lnSpc>
                <a:spcPct val="102000"/>
              </a:lnSpc>
            </a:pPr>
            <a:r>
              <a:rPr sz="3000" b="0" i="0">
                <a:solidFill>
                  <a:srgbClr val="EDE6D6"/>
                </a:solidFill>
                <a:latin typeface="Georgia"/>
              </a:rPr>
              <a:t>Topics to Keep Studying</a:t>
            </a:r>
          </a:p>
        </p:txBody>
      </p:sp>
      <p:sp>
        <p:nvSpPr>
          <p:cNvPr id="5" name="TextBox 4"/>
          <p:cNvSpPr txBox="1"/>
          <p:nvPr/>
        </p:nvSpPr>
        <p:spPr>
          <a:xfrm>
            <a:off x="3931920" y="2606040"/>
            <a:ext cx="3474720" cy="365760"/>
          </a:xfrm>
          <a:prstGeom prst="rect">
            <a:avLst/>
          </a:prstGeom>
          <a:noFill/>
        </p:spPr>
        <p:txBody>
          <a:bodyPr wrap="square" anchor="t" lIns="0" rIns="0" tIns="0" bIns="0">
            <a:spAutoFit/>
          </a:bodyPr>
          <a:lstStyle/>
          <a:p>
            <a:r>
              <a:rPr sz="1300" b="1" i="0" spc="150">
                <a:solidFill>
                  <a:srgbClr val="A79F8B"/>
                </a:solidFill>
                <a:latin typeface="Segoe UI"/>
              </a:rPr>
              <a:t>FOR THE LEADER</a:t>
            </a:r>
          </a:p>
        </p:txBody>
      </p:sp>
      <p:sp>
        <p:nvSpPr>
          <p:cNvPr id="6" name="TextBox 5"/>
          <p:cNvSpPr txBox="1"/>
          <p:nvPr/>
        </p:nvSpPr>
        <p:spPr>
          <a:xfrm>
            <a:off x="3931920" y="2926080"/>
            <a:ext cx="3474720" cy="1463040"/>
          </a:xfrm>
          <a:prstGeom prst="rect">
            <a:avLst/>
          </a:prstGeom>
          <a:noFill/>
        </p:spPr>
        <p:txBody>
          <a:bodyPr wrap="square" anchor="t" lIns="0" rIns="0" tIns="0" bIns="0">
            <a:spAutoFit/>
          </a:bodyPr>
          <a:lstStyle/>
          <a:p>
            <a:pPr>
              <a:lnSpc>
                <a:spcPct val="130000"/>
              </a:lnSpc>
            </a:pPr>
            <a:r>
              <a:rPr sz="1300" b="0" i="0">
                <a:solidFill>
                  <a:srgbClr val="A79F8B"/>
                </a:solidFill>
                <a:latin typeface="Segoe UI"/>
              </a:rPr>
              <a:t>Situational leadership · radical candor · delegation as development · managing energy, not just time.</a:t>
            </a:r>
          </a:p>
        </p:txBody>
      </p:sp>
      <p:sp>
        <p:nvSpPr>
          <p:cNvPr id="7" name="TextBox 6"/>
          <p:cNvSpPr txBox="1"/>
          <p:nvPr/>
        </p:nvSpPr>
        <p:spPr>
          <a:xfrm>
            <a:off x="7543800" y="2606040"/>
            <a:ext cx="3474720" cy="365760"/>
          </a:xfrm>
          <a:prstGeom prst="rect">
            <a:avLst/>
          </a:prstGeom>
          <a:noFill/>
        </p:spPr>
        <p:txBody>
          <a:bodyPr wrap="square" anchor="t" lIns="0" rIns="0" tIns="0" bIns="0">
            <a:spAutoFit/>
          </a:bodyPr>
          <a:lstStyle/>
          <a:p>
            <a:r>
              <a:rPr sz="1300" b="1" i="0" spc="150">
                <a:solidFill>
                  <a:srgbClr val="A79F8B"/>
                </a:solidFill>
                <a:latin typeface="Segoe UI"/>
              </a:rPr>
              <a:t>FOR THE TEAM</a:t>
            </a:r>
          </a:p>
        </p:txBody>
      </p:sp>
      <p:sp>
        <p:nvSpPr>
          <p:cNvPr id="8" name="TextBox 7"/>
          <p:cNvSpPr txBox="1"/>
          <p:nvPr/>
        </p:nvSpPr>
        <p:spPr>
          <a:xfrm>
            <a:off x="7543800" y="2926080"/>
            <a:ext cx="3474720" cy="1463040"/>
          </a:xfrm>
          <a:prstGeom prst="rect">
            <a:avLst/>
          </a:prstGeom>
          <a:noFill/>
        </p:spPr>
        <p:txBody>
          <a:bodyPr wrap="square" anchor="t" lIns="0" rIns="0" tIns="0" bIns="0">
            <a:spAutoFit/>
          </a:bodyPr>
          <a:lstStyle/>
          <a:p>
            <a:pPr>
              <a:lnSpc>
                <a:spcPct val="130000"/>
              </a:lnSpc>
            </a:pPr>
            <a:r>
              <a:rPr sz="1300" b="0" i="0">
                <a:solidFill>
                  <a:srgbClr val="A79F8B"/>
                </a:solidFill>
                <a:latin typeface="Segoe UI"/>
              </a:rPr>
              <a:t>Extreme ownership · growth mindset · the 1% rule · speaking up smart (the 4A Sequence).</a:t>
            </a:r>
          </a:p>
        </p:txBody>
      </p:sp>
      <p:sp>
        <p:nvSpPr>
          <p:cNvPr id="9" name="TextBox 8"/>
          <p:cNvSpPr txBox="1"/>
          <p:nvPr/>
        </p:nvSpPr>
        <p:spPr>
          <a:xfrm>
            <a:off x="3931920" y="4206240"/>
            <a:ext cx="7132320" cy="1463040"/>
          </a:xfrm>
          <a:prstGeom prst="rect">
            <a:avLst/>
          </a:prstGeom>
          <a:noFill/>
        </p:spPr>
        <p:txBody>
          <a:bodyPr wrap="square" anchor="t" lIns="0" rIns="0" tIns="0" bIns="0">
            <a:spAutoFit/>
          </a:bodyPr>
          <a:lstStyle/>
          <a:p>
            <a:pPr>
              <a:lnSpc>
                <a:spcPct val="130000"/>
              </a:lnSpc>
            </a:pPr>
            <a:r>
              <a:rPr sz="1200" b="0" i="1">
                <a:solidFill>
                  <a:srgbClr val="A79F8B"/>
                </a:solidFill>
                <a:latin typeface="Segoe UI"/>
              </a:rPr>
              <a:t>Leaders Eat Last (Sinek) · Radical Candor (Scott) · Extreme Ownership (Willink) · Smart, Not Loud (Chen)</a:t>
            </a:r>
          </a:p>
        </p:txBody>
      </p:sp>
      <p:sp>
        <p:nvSpPr>
          <p:cNvPr id="10" name="TextBox 9"/>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VIII · KEEP STUDYING</a:t>
            </a:r>
          </a:p>
        </p:txBody>
      </p:sp>
      <p:sp>
        <p:nvSpPr>
          <p:cNvPr id="11" name="TextBox 10"/>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36 / 37</a:t>
            </a:r>
          </a:p>
        </p:txBody>
      </p:sp>
      <p:sp>
        <p:nvSpPr>
          <p:cNvPr id="12" name="Rectangle 11"/>
          <p:cNvSpPr/>
          <p:nvPr/>
        </p:nvSpPr>
        <p:spPr>
          <a:xfrm>
            <a:off x="0" y="0"/>
            <a:ext cx="11862189"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E1620"/>
        </a:solidFill>
        <a:effectLst/>
      </p:bgPr>
    </p:bg>
    <p:spTree>
      <p:nvGrpSpPr>
        <p:cNvPr id="1" name=""/>
        <p:cNvGrpSpPr/>
        <p:nvPr/>
      </p:nvGrpSpPr>
      <p:grpSpPr/>
      <p:sp>
        <p:nvSpPr>
          <p:cNvPr id="2" name="Oval 1"/>
          <p:cNvSpPr/>
          <p:nvPr/>
        </p:nvSpPr>
        <p:spPr>
          <a:xfrm>
            <a:off x="10314432" y="347472"/>
            <a:ext cx="1133856" cy="1133856"/>
          </a:xfrm>
          <a:prstGeom prst="ellipse">
            <a:avLst/>
          </a:prstGeom>
          <a:noFill/>
          <a:ln w="95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39157" y="472197"/>
            <a:ext cx="884406" cy="884406"/>
          </a:xfrm>
          <a:prstGeom prst="ellipse">
            <a:avLst/>
          </a:prstGeom>
          <a:noFill/>
          <a:ln w="635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10739628" y="489204"/>
            <a:ext cx="283464" cy="850392"/>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10515600" cy="365760"/>
          </a:xfrm>
          <a:prstGeom prst="rect">
            <a:avLst/>
          </a:prstGeom>
          <a:noFill/>
        </p:spPr>
        <p:txBody>
          <a:bodyPr wrap="square" anchor="t" lIns="0" rIns="0" tIns="0" bIns="0">
            <a:spAutoFit/>
          </a:bodyPr>
          <a:lstStyle/>
          <a:p>
            <a:r>
              <a:rPr sz="1300" b="1" i="0" spc="150">
                <a:solidFill>
                  <a:srgbClr val="C89B3C"/>
                </a:solidFill>
                <a:latin typeface="Segoe UI"/>
              </a:rPr>
              <a:t>CLOSING NOTE</a:t>
            </a:r>
          </a:p>
        </p:txBody>
      </p:sp>
      <p:sp>
        <p:nvSpPr>
          <p:cNvPr id="6" name="TextBox 5"/>
          <p:cNvSpPr txBox="1"/>
          <p:nvPr/>
        </p:nvSpPr>
        <p:spPr>
          <a:xfrm>
            <a:off x="822960" y="914400"/>
            <a:ext cx="1097280" cy="914400"/>
          </a:xfrm>
          <a:prstGeom prst="rect">
            <a:avLst/>
          </a:prstGeom>
          <a:noFill/>
        </p:spPr>
        <p:txBody>
          <a:bodyPr wrap="square" anchor="t" lIns="0" rIns="0" tIns="0" bIns="0">
            <a:spAutoFit/>
          </a:bodyPr>
          <a:lstStyle/>
          <a:p>
            <a:r>
              <a:rPr sz="6000" b="1" i="0">
                <a:solidFill>
                  <a:srgbClr val="C89B3C"/>
                </a:solidFill>
                <a:latin typeface="Georgia"/>
              </a:rPr>
              <a:t>“</a:t>
            </a:r>
          </a:p>
        </p:txBody>
      </p:sp>
      <p:sp>
        <p:nvSpPr>
          <p:cNvPr id="7" name="TextBox 6"/>
          <p:cNvSpPr txBox="1"/>
          <p:nvPr/>
        </p:nvSpPr>
        <p:spPr>
          <a:xfrm>
            <a:off x="822960" y="1554480"/>
            <a:ext cx="9875520" cy="2194560"/>
          </a:xfrm>
          <a:prstGeom prst="rect">
            <a:avLst/>
          </a:prstGeom>
          <a:noFill/>
        </p:spPr>
        <p:txBody>
          <a:bodyPr wrap="square" anchor="t" lIns="0" rIns="0" tIns="0" bIns="0">
            <a:spAutoFit/>
          </a:bodyPr>
          <a:lstStyle/>
          <a:p>
            <a:pPr>
              <a:lnSpc>
                <a:spcPct val="125000"/>
              </a:lnSpc>
            </a:pPr>
            <a:r>
              <a:rPr sz="2200" b="0" i="1">
                <a:solidFill>
                  <a:srgbClr val="EDE6D6"/>
                </a:solidFill>
                <a:latin typeface="Georgia"/>
              </a:rPr>
              <a:t>Targets are the score of this round — we play every round to win. But the real game is that this team is still strong, trusted, and learning three years from now. We never win a quarter in a way that costs us the game.</a:t>
            </a:r>
          </a:p>
        </p:txBody>
      </p:sp>
      <p:sp>
        <p:nvSpPr>
          <p:cNvPr id="8" name="TextBox 7"/>
          <p:cNvSpPr txBox="1"/>
          <p:nvPr/>
        </p:nvSpPr>
        <p:spPr>
          <a:xfrm>
            <a:off x="822960" y="3749039"/>
            <a:ext cx="9692640" cy="1097280"/>
          </a:xfrm>
          <a:prstGeom prst="rect">
            <a:avLst/>
          </a:prstGeom>
          <a:noFill/>
        </p:spPr>
        <p:txBody>
          <a:bodyPr wrap="square" anchor="t" lIns="0" rIns="0" tIns="0" bIns="0">
            <a:spAutoFit/>
          </a:bodyPr>
          <a:lstStyle/>
          <a:p>
            <a:pPr>
              <a:lnSpc>
                <a:spcPct val="130000"/>
              </a:lnSpc>
            </a:pPr>
            <a:r>
              <a:rPr sz="1300" b="0" i="0">
                <a:solidFill>
                  <a:srgbClr val="A79F8B"/>
                </a:solidFill>
                <a:latin typeface="Segoe UI"/>
              </a:rPr>
              <a:t>Every chapter here points the same direction — </a:t>
            </a:r>
            <a:r>
              <a:rPr sz="1300" b="1" i="0">
                <a:solidFill>
                  <a:srgbClr val="C89B3C"/>
                </a:solidFill>
                <a:latin typeface="Segoe UI"/>
              </a:rPr>
              <a:t>consistency over intensity, systems over willpower, the team over the scoreboard.</a:t>
            </a:r>
          </a:p>
        </p:txBody>
      </p:sp>
      <p:sp>
        <p:nvSpPr>
          <p:cNvPr id="9" name="TextBox 8"/>
          <p:cNvSpPr txBox="1"/>
          <p:nvPr/>
        </p:nvSpPr>
        <p:spPr>
          <a:xfrm>
            <a:off x="822960" y="6446520"/>
            <a:ext cx="5486400" cy="320040"/>
          </a:xfrm>
          <a:prstGeom prst="rect">
            <a:avLst/>
          </a:prstGeom>
          <a:noFill/>
        </p:spPr>
        <p:txBody>
          <a:bodyPr wrap="square" anchor="t" lIns="0" rIns="0" tIns="0" bIns="0">
            <a:spAutoFit/>
          </a:bodyPr>
          <a:lstStyle/>
          <a:p>
            <a:r>
              <a:rPr sz="1000" b="0" i="0" spc="110">
                <a:solidFill>
                  <a:srgbClr val="A79F8B"/>
                </a:solidFill>
                <a:latin typeface="Segoe UI"/>
              </a:rPr>
              <a:t>CLOSING</a:t>
            </a:r>
          </a:p>
        </p:txBody>
      </p:sp>
      <p:sp>
        <p:nvSpPr>
          <p:cNvPr id="10" name="TextBox 9"/>
          <p:cNvSpPr txBox="1"/>
          <p:nvPr/>
        </p:nvSpPr>
        <p:spPr>
          <a:xfrm>
            <a:off x="10241280" y="6446520"/>
            <a:ext cx="1097280" cy="320040"/>
          </a:xfrm>
          <a:prstGeom prst="rect">
            <a:avLst/>
          </a:prstGeom>
          <a:noFill/>
        </p:spPr>
        <p:txBody>
          <a:bodyPr wrap="square" anchor="t" lIns="0" rIns="0" tIns="0" bIns="0">
            <a:spAutoFit/>
          </a:bodyPr>
          <a:lstStyle/>
          <a:p>
            <a:pPr algn="r"/>
            <a:r>
              <a:rPr sz="1000" b="0" i="0">
                <a:solidFill>
                  <a:srgbClr val="A79F8B"/>
                </a:solidFill>
                <a:latin typeface="Segoe UI"/>
              </a:rPr>
              <a:t>37 / 37</a:t>
            </a:r>
          </a:p>
        </p:txBody>
      </p:sp>
      <p:sp>
        <p:nvSpPr>
          <p:cNvPr id="11" name="Rectangle 10"/>
          <p:cNvSpPr/>
          <p:nvPr/>
        </p:nvSpPr>
        <p:spPr>
          <a:xfrm>
            <a:off x="0" y="0"/>
            <a:ext cx="12191695" cy="3175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